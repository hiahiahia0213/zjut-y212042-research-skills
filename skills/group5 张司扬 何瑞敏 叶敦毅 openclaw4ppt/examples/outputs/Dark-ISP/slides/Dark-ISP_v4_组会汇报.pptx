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 ISP 插件实现低光照 RAW 图像端到端目标检测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et al. | Fudan University | arXiv: 2509.09183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低光照挑战 | RAW 优势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| 线性 | 非线性 |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 | 消融 | 可视化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 | 局限 | 启发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 | 为什么选择 RAW？ | 现有方法瓶颈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三种现有方法范式 (Fig.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1_paradig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86" y="640080"/>
            <a:ext cx="4589269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777240"/>
            <a:ext cx="3200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777240"/>
            <a:ext cx="32004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832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RAW-RGB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4ch-&gt;3ch, 丢弃 G 通道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1965960"/>
            <a:ext cx="3200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65960"/>
            <a:ext cx="32004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020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 搜索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3134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ISP, 多阶段训练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154680"/>
            <a:ext cx="3200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154680"/>
            <a:ext cx="320040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209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3502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 RGB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 (Fig. 2)</a:t>
            </a:r>
            <a:endParaRPr lang="en-US" sz="2000" dirty="0"/>
          </a:p>
        </p:txBody>
      </p:sp>
      <p:pic>
        <p:nvPicPr>
          <p:cNvPr id="5" name="Image 0" descr="C:\Users\herm\openclaw-research-agent\outputs\paper_assets\fig2_metho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76" y="502920"/>
            <a:ext cx="7787047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50292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50292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39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白平衡 (WB)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758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diag(w1,w2,w3,w4) x [r,gr,gb,b]^T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9728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09728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353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3x4 矩阵, 2 个绿通道取平均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691640"/>
            <a:ext cx="25603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6916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颜色校正 (CCM)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1947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3x3 矩阵 C, 感知颜色空间</a:t>
            </a:r>
            <a:endParaRPr lang="en-US" sz="1000" dirty="0"/>
          </a:p>
        </p:txBody>
      </p:sp>
      <p:pic>
        <p:nvPicPr>
          <p:cNvPr id="20" name="Image 0" descr="C:\Users\herm\openclaw-research-agent\outputs\paper_assets\f_w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1058"/>
            <a:ext cx="3230880" cy="24466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754880" y="50292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920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整体变换 + 自适应注意力</a:t>
            </a:r>
            <a:endParaRPr lang="en-US" sz="1300" dirty="0"/>
          </a:p>
        </p:txBody>
      </p:sp>
      <p:pic>
        <p:nvPicPr>
          <p:cNvPr id="23" name="Image 1" descr="C:\Users\herm\openclaw-research-agent\outputs\paper_assets\f_linear_combi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63638"/>
            <a:ext cx="2109216" cy="232587"/>
          </a:xfrm>
          <a:prstGeom prst="rect">
            <a:avLst/>
          </a:prstGeom>
        </p:spPr>
      </p:pic>
      <p:pic>
        <p:nvPicPr>
          <p:cNvPr id="24" name="Image 2" descr="C:\Users\herm\openclaw-research-agent\outputs\paper_assets\f_linear_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173606"/>
            <a:ext cx="829056" cy="2740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92040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自适应注意力: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92040" y="1783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Pl: 局部注意力 (逐像素变换)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Pg: 全局注意力 (图像级变换)</a:t>
            </a:r>
            <a:endParaRPr lang="en-US" sz="900" dirty="0"/>
          </a:p>
        </p:txBody>
      </p:sp>
      <p:pic>
        <p:nvPicPr>
          <p:cNvPr id="27" name="Image 3" descr="C:\Users\herm\openclaw-research-agent\outputs\paper_assets\f_linear_adapt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68570"/>
            <a:ext cx="1615440" cy="3133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5760" y="3200400"/>
            <a:ext cx="45720" cy="13716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0" name="Text 24"/>
          <p:cNvSpPr/>
          <p:nvPr/>
        </p:nvSpPr>
        <p:spPr>
          <a:xfrm>
            <a:off x="594360" y="3246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 = 可微的相机 ISP 管线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9436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中，白平衡系数和 CCM 由相机固件确定，固定不变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将其作为可学习变量，用局部-全局注意力动态调整变换矩阵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RAW-&gt;RGB 转换直接服务于检测目标而非人眼观看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475488"/>
            <a:ext cx="45720" cy="8686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7" name="Image 0" descr="C:\Users\herm\openclaw-research-agent\outputs\paper_assets\f_polynom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09117"/>
            <a:ext cx="3800856" cy="293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005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x: 像素值 | {ak}: 网络预测逐像素系数 | n: 阶数 | 非凸多项式: 拉伸暗区, 压缩亮区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55448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 (根据论文重绘)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874520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 (3xHxW, corrected)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276856"/>
            <a:ext cx="3749040" cy="32004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276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 Conv3x3 + ReLU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679192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679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 maps {C0...Cn}</a:t>
            </a:r>
            <a:endParaRPr lang="en-US" sz="1000" dirty="0"/>
          </a:p>
        </p:txBody>
      </p:sp>
      <p:pic>
        <p:nvPicPr>
          <p:cNvPr id="17" name="Image 1" descr="C:\Users\herm\openclaw-research-agent\outputs\paper_assets\f_nonlinear_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40473"/>
            <a:ext cx="1709928" cy="53133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54880" y="155448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9204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Zero-DCE 的区别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9202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Z-DCE: 二次曲线 | Ours: n 阶多项式基 (更灵活)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显式考虑低光照行为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非凸多项式更合适暗区分布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跳跃连接防梯度消失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92040" y="39776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动机: 深层非线性输出包含更丰富任务信息, 作为伪标签监督线性组件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300" dirty="0"/>
          </a:p>
        </p:txBody>
      </p:sp>
      <p:pic>
        <p:nvPicPr>
          <p:cNvPr id="9" name="Image 0" descr="C:\Users\herm\openclaw-research-agent\outputs\paper_assets\f_sb_ora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9397"/>
            <a:ext cx="2484120" cy="354422"/>
          </a:xfrm>
          <a:prstGeom prst="rect">
            <a:avLst/>
          </a:prstGeom>
        </p:spPr>
      </p:pic>
      <p:pic>
        <p:nvPicPr>
          <p:cNvPr id="10" name="Image 1" descr="C:\Users\herm\openclaw-research-agent\outputs\paper_assets\f_sb_clo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7190"/>
            <a:ext cx="1877568" cy="2435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514600"/>
            <a:ext cx="347472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需要 paired RAW-正常光 RGB 样本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获取成本极高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123444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54880" y="1298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(自监督近似)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488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U = F(I) 替代 oracle U*</a:t>
            </a:r>
            <a:endParaRPr lang="en-US" sz="1100" dirty="0"/>
          </a:p>
        </p:txBody>
      </p:sp>
      <p:pic>
        <p:nvPicPr>
          <p:cNvPr id="16" name="Image 2" descr="C:\Users\herm\openclaw-research-agent\outputs\paper_assets\f_sb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04132"/>
            <a:ext cx="2029968" cy="3351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54880" y="2606040"/>
            <a:ext cx="3840480" cy="411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8" name="Text 13"/>
          <p:cNvSpPr/>
          <p:nvPr/>
        </p:nvSpPr>
        <p:spPr>
          <a:xfrm>
            <a:off x="4937760" y="2633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无需额外标注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让线性组件向非线性看齐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损失函数与实验设置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数据集 | 5 基线方法 | 端到端训练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损失函数与训练设置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6" name="Image 0" descr="C:\Users\herm\openclaw-research-agent\outputs\paper_assets\f_loss_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08749"/>
            <a:ext cx="2950464" cy="251639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f_loss_de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58174"/>
            <a:ext cx="4029456" cy="17153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13716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137160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 (~136 KB)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37160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0"/>
          <p:cNvSpPr/>
          <p:nvPr/>
        </p:nvSpPr>
        <p:spPr>
          <a:xfrm>
            <a:off x="493776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端到端联合训练 ISP+检测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3774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37744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组件随机初始化即可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23774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237744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18"/>
          <p:cNvSpPr/>
          <p:nvPr/>
        </p:nvSpPr>
        <p:spPr>
          <a:xfrm>
            <a:off x="493776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(真实) | NOD (双相机) | SynCOCO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65760" y="352044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9436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对比基线: Default ISP | Demosaic | SID* [CVPR'18] | LIS [ICCV'23] | FeatEnHancer [CVPR'23] | RAW-Adapter [ECCV'24]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主实验结果</a:t>
            </a:r>
            <a:endParaRPr lang="en-US" sz="2000" dirty="0"/>
          </a:p>
        </p:txBody>
      </p:sp>
      <p:pic>
        <p:nvPicPr>
          <p:cNvPr id="5" name="Image 0" descr="C:\Users\herm\openclaw-research-agent\outputs\paper_assets\table1_lod_mai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03" y="502920"/>
            <a:ext cx="4494315" cy="347472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table2_nod_cross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502920"/>
            <a:ext cx="3822192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Shape 4"/>
          <p:cNvSpPr/>
          <p:nvPr/>
        </p:nvSpPr>
        <p:spPr>
          <a:xfrm>
            <a:off x="365760" y="4114800"/>
            <a:ext cx="36576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LOD +3.4 mAP (70.4 vs 67.0) | Sony/Nikon 均最优 | 额外参数 0.136 MB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Table 1, 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</a:t>
            </a:r>
            <a:endParaRPr lang="en-US" sz="2000" dirty="0"/>
          </a:p>
        </p:txBody>
      </p:sp>
      <p:pic>
        <p:nvPicPr>
          <p:cNvPr id="5" name="Image 0" descr="C:\Users\herm\openclaw-research-agent\outputs\paper_assets\table4_ablati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18497"/>
            <a:ext cx="4572000" cy="1559903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table5_ablation_nonlinear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509212"/>
            <a:ext cx="4114800" cy="203567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27432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2743200"/>
            <a:ext cx="36576" cy="18288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31089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非线性单独(67.1) &gt; 线性单独(66.6): 色调映射贡献更大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 + Self-Boost(70.4): +3.8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多项式基精度最高且参数最少(0.136MB)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RAW 方法均优于 RGB 方法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Table 4, 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</a:t>
            </a:r>
            <a:endParaRPr lang="en-US" sz="2000" dirty="0"/>
          </a:p>
        </p:txBody>
      </p:sp>
      <p:pic>
        <p:nvPicPr>
          <p:cNvPr id="5" name="Image 0" descr="C:\Users\herm\openclaw-research-agent\outputs\paper_assets\fig4_visualization_l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305" y="411480"/>
            <a:ext cx="3661391" cy="233172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fig5_visualization_nod_so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15" y="2880360"/>
            <a:ext cx="2444370" cy="1691640"/>
          </a:xfrm>
          <a:prstGeom prst="rect">
            <a:avLst/>
          </a:prstGeom>
        </p:spPr>
      </p:pic>
      <p:pic>
        <p:nvPicPr>
          <p:cNvPr id="7" name="Image 2" descr="C:\Users\herm\openclaw-research-agent\outputs\paper_assets\fig6_visualization_nod_nik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02" y="2880360"/>
            <a:ext cx="2455996" cy="1691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Fig. 4, 5, 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02336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94360"/>
            <a:ext cx="2651760" cy="1554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94360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0.136MB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跨传感器泛化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594360"/>
            <a:ext cx="2651760" cy="1554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594360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960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合成/真实 RAW域差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多项式阶数固定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ResNet 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未探索时序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594360"/>
            <a:ext cx="2651760" cy="1554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594360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960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低光照: 非线性&gt;线性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RAW: 可微 ISP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水下: 改 CCM 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可迁移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77440"/>
            <a:ext cx="45720" cy="1691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450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对研究方向的启发展开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2761488"/>
            <a:ext cx="27432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61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7614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非线性色调映射 &gt; 线性颜色校正; 增强作为可微前置模块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054096"/>
            <a:ext cx="27432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054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305409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 ISP &gt; 黑盒端到端; 即插即用基准框架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346704"/>
            <a:ext cx="27432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3467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水下/恶劣天气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34670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框架可迁移: 调整 CCM 和基函数适配不同降质类型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639312"/>
            <a:ext cx="27432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639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639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可用于任意级联增强-检测架构的组件间协作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arXiv: 2509.09183 | Fudan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2026-06-03T07:22:24Z</dcterms:created>
  <dcterms:modified xsi:type="dcterms:W3CDTF">2026-06-03T07:22:24Z</dcterms:modified>
</cp:coreProperties>
</file>