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Low-Light Object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通过可微 ISP 插件实现低光照 RAW 图像端到端目标检测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Jiasheng Guo, etc. | Fudan University | arXiv: 2509.09183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4114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低光照挑战 | RAW 优势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方法框架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| 线性 | 非线性 | Self-Boost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 | 消融 | 可视化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 | 局限 | 启发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828800" cy="301752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min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低光照目标检测 | 为什么选择 RAW？ | 现有方法瓶颈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三种现有方法范式 (Fig.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1_paradig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26" y="685800"/>
            <a:ext cx="4589269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82296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822960"/>
            <a:ext cx="329184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877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RAW-RGB 转换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1704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4ch Bayer-&gt;3ch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 1 个 G 通道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1627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LIS, RAW-Adapter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05740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057400"/>
            <a:ext cx="329184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2112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ISP 参数搜索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4048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 ISP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多阶段训练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2862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NOD, AdaptiveISP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3291840"/>
            <a:ext cx="3291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291840"/>
            <a:ext cx="329184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辅助信息增强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6393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依赖正常光照 RGB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或相机元数据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23560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ISP-Teacher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整体架构 (Fig.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fig2_metho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999" y="548640"/>
            <a:ext cx="7614002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线性组件：传感器校准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21792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21792"/>
            <a:ext cx="256032" cy="42062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21792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6766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白平衡 (WB)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97280"/>
            <a:ext cx="256032" cy="42062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097280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1521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572768"/>
            <a:ext cx="384048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572768"/>
            <a:ext cx="256032" cy="42062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572768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1627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颜色校正 (CCM)</a:t>
            </a:r>
            <a:endParaRPr lang="en-US" sz="1200" dirty="0"/>
          </a:p>
        </p:txBody>
      </p:sp>
      <p:pic>
        <p:nvPicPr>
          <p:cNvPr id="18" name="Image 0" descr="C:\Users\herm\openclaw-research-agent\outputs\paper_assets\formula_w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98448"/>
            <a:ext cx="7759700" cy="584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480560" y="621792"/>
            <a:ext cx="4389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694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整体变换</a:t>
            </a:r>
            <a:endParaRPr lang="en-US" sz="1300" dirty="0"/>
          </a:p>
        </p:txBody>
      </p:sp>
      <p:pic>
        <p:nvPicPr>
          <p:cNvPr id="21" name="Image 1" descr="C:\Users\herm\openclaw-research-agent\outputs\paper_assets\formula_linear_combi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5041900" cy="546100"/>
          </a:xfrm>
          <a:prstGeom prst="rect">
            <a:avLst/>
          </a:prstGeom>
        </p:spPr>
      </p:pic>
      <p:pic>
        <p:nvPicPr>
          <p:cNvPr id="22" name="Image 2" descr="C:\Users\herm\openclaw-research-agent\outputs\paper_assets\formula_linear_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1854200" cy="609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自适应注意力: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663440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Pl: 局部注意力 (逐像素变换)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Pg: 全局注意力 (图像级变换)</a:t>
            </a:r>
            <a:endParaRPr lang="en-US" sz="1000" dirty="0"/>
          </a:p>
        </p:txBody>
      </p:sp>
      <p:pic>
        <p:nvPicPr>
          <p:cNvPr id="25" name="Image 3" descr="C:\Users\herm\openclaw-research-agent\outputs\paper_assets\formula_linear_adapt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23160"/>
            <a:ext cx="3810000" cy="7493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65760" y="3017520"/>
            <a:ext cx="8412480" cy="155448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3017520"/>
            <a:ext cx="45720" cy="1554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 = 可微的相机 ISP 管线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340156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中，白平衡系数和 CCM 由相机固件确定，固定不变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将这些参数作为可学习变量，用局部-全局注意力动态调整变换矩阵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 RAW-&gt;RGB 转换直接服务于检测目标，而非人眼观看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非线性组件：色调映射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9436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94360"/>
            <a:ext cx="45720" cy="7772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8" name="Image 0" descr="C:\Users\herm\openclaw-research-agent\outputs\paper_assets\formula_polynom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9359900" cy="723900"/>
          </a:xfrm>
          <a:prstGeom prst="rect">
            <a:avLst/>
          </a:prstGeom>
        </p:spPr>
      </p:pic>
      <p:pic>
        <p:nvPicPr>
          <p:cNvPr id="9" name="Image 1" descr="C:\Users\herm\openclaw-research-agent\outputs\paper_assets\formula_nonlinear_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148463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55448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1627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 (根据论文重绘)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1920240"/>
            <a:ext cx="3657600" cy="310896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1920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 (3xHxW, corrected)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304288"/>
            <a:ext cx="3657600" cy="310896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2304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x Conv3x3 + ReLU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688336"/>
            <a:ext cx="3657600" cy="310896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26883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 maps {C0...Cn}</a:t>
            </a:r>
            <a:endParaRPr lang="en-US" sz="1000" dirty="0"/>
          </a:p>
        </p:txBody>
      </p:sp>
      <p:pic>
        <p:nvPicPr>
          <p:cNvPr id="18" name="Image 2" descr="C:\Users\herm\openclaw-research-agent\outputs\paper_assets\formula_nonlinear_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4495800" cy="142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63440" y="155448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84632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Zero-DCE 的区别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46320" y="1965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Z-DCE: 二次曲线 | Ours: n 阶多项式基 (更灵活)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显式考虑低光照行为，防止次优收敛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非凸多项式更适合暗区像素分布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跳跃连接保留原始信息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46320" y="3931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根据论文方法重绘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685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动机: 深层非线性输出包含更丰富的任务信息, 可作为伪标签监督线性组件学习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81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理论最优 (Oracle)</a:t>
            </a:r>
            <a:endParaRPr lang="en-US" sz="1400" dirty="0"/>
          </a:p>
        </p:txBody>
      </p:sp>
      <p:pic>
        <p:nvPicPr>
          <p:cNvPr id="10" name="Image 0" descr="C:\Users\herm\openclaw-research-agent\outputs\paper_assets\formula_sb_ora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918200" cy="825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闭式最小二乘解:</a:t>
            </a:r>
            <a:endParaRPr lang="en-US" sz="1100" dirty="0"/>
          </a:p>
        </p:txBody>
      </p:sp>
      <p:pic>
        <p:nvPicPr>
          <p:cNvPr id="12" name="Image 1" descr="C:\Users\herm\openclaw-research-agent\outputs\paper_assets\formula_sb_clo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4432300" cy="571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2926080"/>
            <a:ext cx="347472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需要 paired RAW-正常光 RGB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获取成本极高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0" y="1508760"/>
            <a:ext cx="42062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54880" y="1581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(自监督近似)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548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U = F(I) 替代 oracle U*</a:t>
            </a:r>
            <a:endParaRPr lang="en-US" sz="1200" dirty="0"/>
          </a:p>
        </p:txBody>
      </p:sp>
      <p:pic>
        <p:nvPicPr>
          <p:cNvPr id="18" name="Image 2" descr="C:\Users\herm\openclaw-research-agent\outputs\paper_assets\formula_sb_l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31720"/>
            <a:ext cx="4889500" cy="8255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54880" y="2926080"/>
            <a:ext cx="3840480" cy="502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0" name="Text 15"/>
          <p:cNvSpPr/>
          <p:nvPr/>
        </p:nvSpPr>
        <p:spPr>
          <a:xfrm>
            <a:off x="493776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无需额外标注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让线性组件向非线性看齐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损失函数与实验设置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数据集 | 5 基线方法 | 端到端训练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损失函数与训练设置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486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7" name="Image 0" descr="C:\Users\herm\openclaw-research-agent\outputs\paper_assets\formula_loss_to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7937500" cy="685800"/>
          </a:xfrm>
          <a:prstGeom prst="rect">
            <a:avLst/>
          </a:prstGeom>
        </p:spPr>
      </p:pic>
      <p:pic>
        <p:nvPicPr>
          <p:cNvPr id="8" name="Image 1" descr="C:\Users\herm\openclaw-research-agent\outputs\paper_assets\formula_loss_des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2776200" cy="4953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15544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65760" y="155448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0.136 MB (~136 KB)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5544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55448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1"/>
          <p:cNvSpPr/>
          <p:nvPr/>
        </p:nvSpPr>
        <p:spPr>
          <a:xfrm>
            <a:off x="493776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端到端联合训练 ISP+检测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6060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606040"/>
            <a:ext cx="402336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" y="2679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组件随机初始化即可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26060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2606040"/>
            <a:ext cx="402336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19"/>
          <p:cNvSpPr/>
          <p:nvPr/>
        </p:nvSpPr>
        <p:spPr>
          <a:xfrm>
            <a:off x="4937760" y="2679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93776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 (真实) | NOD (双相机) | SynCOCO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65760" y="379476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对比基线: Default ISP | Demosaic | SID* [CVPR'18] | LIS [ICCV'23] | FeatEnHancer [CVPR'23] | RAW-Adapter [ECCV'24]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主实验结果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table1_lod_mai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03" y="548640"/>
            <a:ext cx="4494315" cy="3474720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table2_nod_cross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548640"/>
            <a:ext cx="3822192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Shape 5"/>
          <p:cNvSpPr/>
          <p:nvPr/>
        </p:nvSpPr>
        <p:spPr>
          <a:xfrm>
            <a:off x="365760" y="4114800"/>
            <a:ext cx="36576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on LOD: +3.4 mAP (70.4 vs 67.0, ResNet50) | Sony/Nikon 均最优 | 额外参数仅 0.136 MB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1,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6" name="Image 0" descr="C:\Users\herm\openclaw-research-agent\outputs\paper_assets\table4_ablatio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64801"/>
            <a:ext cx="4572000" cy="1559903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table5_ablation_nonlinear_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655516"/>
            <a:ext cx="4114800" cy="203567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2926080"/>
            <a:ext cx="36576" cy="16916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非线性单独(67.1) &gt; 线性单独(66.6): 色调映射贡献更大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 + Self-Boost(70.4): +3.8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多项式基精度最高(70.4)且参数最少(0.136MB)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RAW 方法均优于 RGB 方法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4, 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</a:t>
            </a:r>
            <a:endParaRPr lang="en-US" sz="2000" dirty="0"/>
          </a:p>
        </p:txBody>
      </p:sp>
      <p:pic>
        <p:nvPicPr>
          <p:cNvPr id="5" name="Image 0" descr="C:\Users\herm\openclaw-research-agent\outputs\paper_assets\fig4_visualization_l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7201" y="457200"/>
            <a:ext cx="3589599" cy="2286000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fig5_visualization_nod_so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15" y="2880360"/>
            <a:ext cx="2444370" cy="1691640"/>
          </a:xfrm>
          <a:prstGeom prst="rect">
            <a:avLst/>
          </a:prstGeom>
        </p:spPr>
      </p:pic>
      <p:pic>
        <p:nvPicPr>
          <p:cNvPr id="7" name="Image 2" descr="C:\Users\herm\openclaw-research-agent\outputs\paper_assets\fig6_visualization_nod_nik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02" y="2880360"/>
            <a:ext cx="2455996" cy="1691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 4, 5, 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40080"/>
            <a:ext cx="2651760" cy="1645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640080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 0.136MB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跨传感器泛化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端到端即插即用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640080"/>
            <a:ext cx="2651760" cy="1645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640080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051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合成/真实RAW域差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多项式阶数固定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仅ResNet测试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未探索时序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640080"/>
            <a:ext cx="265176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640080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051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低光照:非线性&gt;线性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RAW:可微ISP范式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水下:改CCM适配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级联:Self-Boost可迁移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14600"/>
            <a:ext cx="45720" cy="1691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对研究方向的启发展开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2944368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294436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非线性色调映射 &gt; 线性颜色校正; 增强作为可微前置模块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236976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2369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236976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 ISP &gt; 黑盒端到端; 即插即用基准框架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3529584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529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水下/恶劣天气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3529584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框架可迁移: 调整 CCM 和基函数适配不同降质类型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3822192"/>
            <a:ext cx="2743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221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82219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可用于任意级联增强-检测架构的组件间协作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arXiv: 2509.09183 | Fudan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Dark-ISP 论文精读</dc:title>
  <dc:subject>PptxGenJS Presentation</dc:subject>
  <dc:creator>组会汇报</dc:creator>
  <cp:lastModifiedBy>组会汇报</cp:lastModifiedBy>
  <cp:revision>1</cp:revision>
  <dcterms:created xsi:type="dcterms:W3CDTF">2026-06-03T07:10:27Z</dcterms:created>
  <dcterms:modified xsi:type="dcterms:W3CDTF">2026-06-03T07:10:27Z</dcterms:modified>
</cp:coreProperties>
</file>