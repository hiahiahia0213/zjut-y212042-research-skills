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A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组会论文精读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772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Dark-ISP: Enhancing RAW Image Processing</a:t>
            </a:r>
            <a:endParaRPr lang="en-US" sz="2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for Low-Light Object Detection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2834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C7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通过可微ISP插件实现低光照RAW图像端到端目标检测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3474720"/>
            <a:ext cx="4114800" cy="1188720"/>
          </a:xfrm>
          <a:prstGeom prst="rect">
            <a:avLst/>
          </a:prstGeom>
          <a:solidFill>
            <a:srgbClr val="1E1E48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56616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2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Jiasheng Guo, Xin Gao, Yuxiang Yan, Guanghao Li, Jian Pu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2BE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复旦大学 类脑智能科学与技术研究院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E8A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ICCV 2025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0" y="4572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2BEC3"/>
                </a:solidFill>
              </a:rPr>
              <a:t>2026-05-21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 报 提 纲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457200" cy="36576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88720"/>
            <a:ext cx="4114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 研究背景与动机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 现有方法分析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 方法框架总览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 线性组件详解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 非线性组件详解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 Self-Boost 正则化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  训练与损失函数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  实验设置与结果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  消融实验与分析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 优点、局限与启发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0" y="914400"/>
            <a:ext cx="2926080" cy="54864"/>
          </a:xfrm>
          <a:prstGeom prst="rect">
            <a:avLst/>
          </a:prstGeom>
          <a:solidFill>
            <a:srgbClr val="0D9488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943600" y="1188720"/>
            <a:ext cx="2560320" cy="54864"/>
          </a:xfrm>
          <a:prstGeom prst="rect">
            <a:avLst/>
          </a:prstGeom>
          <a:solidFill>
            <a:srgbClr val="0D9488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943600" y="1463040"/>
            <a:ext cx="2194560" cy="54864"/>
          </a:xfrm>
          <a:prstGeom prst="rect">
            <a:avLst/>
          </a:prstGeom>
          <a:solidFill>
            <a:srgbClr val="0D9488">
              <a:alpha val="2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943600" y="1828800"/>
            <a:ext cx="2743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 min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A1A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快速读懂一篇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A1A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ICCV 2025 Oral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2BEC3"/>
                </a:solidFill>
              </a:rPr>
              <a:t>Dark-ISP | ICCV 2025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315200" y="4754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2BEC3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研究背景与动机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A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Low-Light Object Detection: Why RAW?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2BEC3"/>
                </a:solidFill>
              </a:rPr>
              <a:t>Dark-ISP | ICCV 2025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0" y="4754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低光照目标检测的挑战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365760" cy="27432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256032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2560320" cy="54864"/>
          </a:xfrm>
          <a:prstGeom prst="rect">
            <a:avLst/>
          </a:prstGeom>
          <a:solidFill>
            <a:srgbClr val="E17055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2801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噪声放大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" y="173736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暗光下CMOS传感器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产生大量散粒噪声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和读出噪声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1097280"/>
            <a:ext cx="256032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91840" y="1097280"/>
            <a:ext cx="2560320" cy="54864"/>
          </a:xfrm>
          <a:prstGeom prst="rect">
            <a:avLst/>
          </a:prstGeom>
          <a:solidFill>
            <a:srgbClr val="E17055"/>
          </a:solidFill>
          <a:ln/>
        </p:spPr>
      </p:sp>
      <p:sp>
        <p:nvSpPr>
          <p:cNvPr id="10" name="Text 8"/>
          <p:cNvSpPr/>
          <p:nvPr/>
        </p:nvSpPr>
        <p:spPr>
          <a:xfrm>
            <a:off x="3429000" y="12801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对比度下降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429000" y="173736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暗区像素分布集中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目标与背景难以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区分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1097280"/>
            <a:ext cx="256032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1097280"/>
            <a:ext cx="2560320" cy="54864"/>
          </a:xfrm>
          <a:prstGeom prst="rect">
            <a:avLst/>
          </a:prstGeom>
          <a:solidFill>
            <a:srgbClr val="E17055"/>
          </a:solidFill>
          <a:ln/>
        </p:spPr>
      </p:sp>
      <p:sp>
        <p:nvSpPr>
          <p:cNvPr id="14" name="Text 12"/>
          <p:cNvSpPr/>
          <p:nvPr/>
        </p:nvSpPr>
        <p:spPr>
          <a:xfrm>
            <a:off x="6263640" y="12801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信息丢失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263640" y="173736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传统ISP流程在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RAW转RGB过程中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丢失关键信息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291840"/>
            <a:ext cx="82296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291840"/>
            <a:ext cx="54864" cy="1554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383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为什么选择 RAW 而非 RGB？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31520" y="3794760"/>
            <a:ext cx="7498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RAW 图像保留传感器原始信息（线性响应、高位深 12-14bit），暗区信噪比更高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 ISP 流程（去马赛克、白平衡、Gamma 校正）会压缩/丢弃暗区细节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RAW 域可以联合优化 ISP 参数与检测网络，实现端到端学习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2BEC3"/>
                </a:solidFill>
              </a:rPr>
              <a:t>Dark-ISP | ICCV 2025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315200" y="4754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2BEC3"/>
                </a:solidFill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现有方法分析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A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Three Paradigms of RAW-based Detection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2BEC3"/>
                </a:solidFill>
              </a:rPr>
              <a:t>Dark-ISP | ICCV 2025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0" y="4754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三大类方法的对比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365760" cy="27432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256032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2560320" cy="54864"/>
          </a:xfrm>
          <a:prstGeom prst="rect">
            <a:avLst/>
          </a:prstGeom>
          <a:solidFill>
            <a:srgbClr val="E17055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280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(a) RAW-RGB 转换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69164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4通道Bayer-&gt;3通道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丢弃1个G通道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信息损失严重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2834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2BE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代表工作：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30632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LIS, RAW-Adapter,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Crafting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097280"/>
            <a:ext cx="256032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097280"/>
            <a:ext cx="2560320" cy="54864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12" name="Text 10"/>
          <p:cNvSpPr/>
          <p:nvPr/>
        </p:nvSpPr>
        <p:spPr>
          <a:xfrm>
            <a:off x="3429000" y="1280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(b) ISP 参数搜索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29000" y="169164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可学习ISP模块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多阶段训练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计算开销大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29000" y="2834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2BE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代表工作：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29000" y="30632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NOD, AdaptiveISP,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DynamicISP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1097280"/>
            <a:ext cx="256032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1097280"/>
            <a:ext cx="2560320" cy="54864"/>
          </a:xfrm>
          <a:prstGeom prst="rect">
            <a:avLst/>
          </a:prstGeom>
          <a:solidFill>
            <a:srgbClr val="0984E3"/>
          </a:solidFill>
          <a:ln/>
        </p:spPr>
      </p:sp>
      <p:sp>
        <p:nvSpPr>
          <p:cNvPr id="18" name="Text 16"/>
          <p:cNvSpPr/>
          <p:nvPr/>
        </p:nvSpPr>
        <p:spPr>
          <a:xfrm>
            <a:off x="6263640" y="1280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(c) 辅助信息增强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63640" y="169164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依赖正常光照RGB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或相机元数据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部署受限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63640" y="2834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2BE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代表工作：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63640" y="30632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ISP-Teacher,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Multitask AET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4206240"/>
            <a:ext cx="82296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4206240"/>
            <a:ext cx="54864" cy="73152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42976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核心洞察：ISP 流程是 线性(传感器校准) -&gt; 非线性(色调映射) 的级联结构，可解构为可微组件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2BEC3"/>
                </a:solidFill>
              </a:rPr>
              <a:t>Dark-ISP | ICCV 2025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315200" y="4754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2BEC3"/>
                </a:solidFill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Dark-ISP 整体架构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365760" cy="27432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463040"/>
            <a:ext cx="1645920" cy="1097280"/>
          </a:xfrm>
          <a:prstGeom prst="rect">
            <a:avLst/>
          </a:prstGeom>
          <a:solidFill>
            <a:srgbClr val="6C5CE7">
              <a:alpha val="15000"/>
            </a:srgbClr>
          </a:solidFill>
          <a:ln w="19050">
            <a:solidFill>
              <a:srgbClr val="6C5C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459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Bayer RAW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057400" y="17830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2BEC3"/>
                </a:solidFill>
              </a:rPr>
              <a:t>-&gt;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377440" y="1463040"/>
            <a:ext cx="1645920" cy="1097280"/>
          </a:xfrm>
          <a:prstGeom prst="rect">
            <a:avLst/>
          </a:prstGeom>
          <a:solidFill>
            <a:srgbClr val="0D9488">
              <a:alpha val="15000"/>
            </a:srgbClr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77440" y="16459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线性组件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传感器校准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977640" y="17830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2BEC3"/>
                </a:solidFill>
              </a:rPr>
              <a:t>-&gt;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297680" y="1463040"/>
            <a:ext cx="1645920" cy="1097280"/>
          </a:xfrm>
          <a:prstGeom prst="rect">
            <a:avLst/>
          </a:prstGeom>
          <a:solidFill>
            <a:srgbClr val="0984E3">
              <a:alpha val="15000"/>
            </a:srgbClr>
          </a:solidFill>
          <a:ln w="19050">
            <a:solidFill>
              <a:srgbClr val="0984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7680" y="16459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非线性组件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色调映射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897880" y="17830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2BEC3"/>
                </a:solidFill>
              </a:rPr>
              <a:t>-&gt;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217920" y="1463040"/>
            <a:ext cx="1645920" cy="1097280"/>
          </a:xfrm>
          <a:prstGeom prst="rect">
            <a:avLst/>
          </a:prstGeom>
          <a:solidFill>
            <a:srgbClr val="00B894">
              <a:alpha val="15000"/>
            </a:srgbClr>
          </a:solidFill>
          <a:ln w="19050">
            <a:solidFill>
              <a:srgbClr val="00B89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16459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检测网络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Detector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818120" y="17830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2BEC3"/>
                </a:solidFill>
              </a:rPr>
              <a:t>-&gt;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8138160" y="1463040"/>
            <a:ext cx="1645920" cy="1097280"/>
          </a:xfrm>
          <a:prstGeom prst="rect">
            <a:avLst/>
          </a:prstGeom>
          <a:solidFill>
            <a:srgbClr val="E8A838">
              <a:alpha val="15000"/>
            </a:srgbClr>
          </a:solidFill>
          <a:ln w="19050">
            <a:solidFill>
              <a:srgbClr val="E8A83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38160" y="16459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检测结果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17920" y="2743200"/>
            <a:ext cx="2468880" cy="36576"/>
          </a:xfrm>
          <a:prstGeom prst="rect">
            <a:avLst/>
          </a:prstGeom>
          <a:solidFill>
            <a:srgbClr val="E8A838">
              <a:alpha val="6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0" y="28346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A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Self-Boost 正则化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474720"/>
            <a:ext cx="82296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31520" y="3566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三大核心创新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31520" y="393192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解构 ISP 流程：线性（白平衡/CCM）+ 非线性（色调映射）可微组件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内容自适应 + 物理先验：局部-全局注意力 + 多项式基函数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Self-Boost 自引导：利用级联结构，非线性输出监督线性组件学习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2BEC3"/>
                </a:solidFill>
              </a:rPr>
              <a:t>Dark-ISP | ICCV 2025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315200" y="4754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2BEC3"/>
                </a:solidFill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线性组件：传感器校准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365760" cy="274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41148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54864" cy="7315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1430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白平衡 WB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14173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diag(w₁,w₂,w₃,w₄) × [r,gᵣ,g_b,b]ᵀ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41148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965960"/>
            <a:ext cx="54864" cy="7315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0116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Binning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22860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3×4 稀疏矩阵, 绿通道平均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834640"/>
            <a:ext cx="41148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834640"/>
            <a:ext cx="54864" cy="7315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8803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颜色校正 CCM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31546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3×3 颜色校正矩阵 C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46320" y="1097280"/>
            <a:ext cx="384048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46320" y="1097280"/>
            <a:ext cx="384048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0" y="1234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整体线性变换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0" y="15544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= C · B · W ∈ ℝ³ˣ⁴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029200" y="18745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Î = P · I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029200" y="21488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其中 I ∈ ℝ⁴ˣᴴˣᵂ 为 RAW 输入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 将 4 通道映射到 3 通道 RGB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657600"/>
            <a:ext cx="82296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3657600"/>
            <a:ext cx="54864" cy="128016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3749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自适应增强：局部-全局注意力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31520" y="406908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局部注意力 Pₗ：从 RAW 图提取像素级特征，每个像素生成独立变换参数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全局注意力 P₉：图像级变换参数，保持全局色调一致性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跳跃连接：P̃ = Pₗ + P₉ + P（保留基础相机参数）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2BEC3"/>
                </a:solidFill>
              </a:rPr>
              <a:t>Dark-ISP | ICCV 2025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315200" y="4754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2BEC3"/>
                </a:solidFill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非线性组件：色调映射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365760" cy="27432"/>
          </a:xfrm>
          <a:prstGeom prst="rect">
            <a:avLst/>
          </a:prstGeom>
          <a:solidFill>
            <a:srgbClr val="0984E3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54864" cy="1097280"/>
          </a:xfrm>
          <a:prstGeom prst="rect">
            <a:avLst/>
          </a:prstGeom>
          <a:solidFill>
            <a:srgbClr val="0984E3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188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核心思想：多项式基函数组合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508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984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F(x) = a₀ + a₁x + a₂x² + ... + aₙxⁿ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19202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 为像素值，{aₖ} 为网络预测的系数（非凸多项式 -&gt; 适合拉伸暗区、压缩亮区）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377440"/>
            <a:ext cx="365760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377440"/>
            <a:ext cx="3657600" cy="54864"/>
          </a:xfrm>
          <a:prstGeom prst="rect">
            <a:avLst/>
          </a:prstGeom>
          <a:solidFill>
            <a:srgbClr val="0984E3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560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 Î (3×H×W)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103120" y="27432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2BEC3"/>
                </a:solidFill>
              </a:rPr>
              <a:t>↓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2926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× Conv3×3 + ReLU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103120" y="3108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2BEC3"/>
                </a:solidFill>
              </a:rPr>
              <a:t>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32918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逐像素系数图 {C₀, C₁, ..., Cₙ}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103120" y="34747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2BEC3"/>
                </a:solidFill>
              </a:rPr>
              <a:t>↓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36576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984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 = Σ Cₖ ⊙ Îᵏ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39319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↓ 跳跃连接 (梯度保持)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" y="42062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输出增强图 U (3×H×W)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389120" y="2377440"/>
            <a:ext cx="429768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389120" y="2377440"/>
            <a:ext cx="4297680" cy="54864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0" y="2560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 Zero-DCE 的关键区别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0" y="2926080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Zero-DCE 使用二次曲线（简单）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Dark-ISP 使用 n 阶多项式基（更灵活）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显式考虑低光照行为，防止次优收敛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非凸多项式更适合暗区像素分布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2BEC3"/>
                </a:solidFill>
              </a:rPr>
              <a:t>Dark-ISP | ICCV 2025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315200" y="4754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2BEC3"/>
                </a:solidFill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Self-Boost 正则化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365760" cy="27432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82296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54864" cy="118872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1887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动机：如何让线性和非线性组件更好地协作？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5544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利用 ISP 级联结构特征：深层的非线性输出包含更丰富的任务相关信息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828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-&gt; 用非线性组件的输出 U_hat 作为"伪标签"，监督线性组件的学习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468880"/>
            <a:ext cx="365760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25603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理论最优 (Oracle)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2926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P* = min ||U* - P I||²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32461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闭式解：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474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36E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P* = U*Iᵀ(IIᵀ)⁻¹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38404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2BE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 paired RAW-正常光RGB 样本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2BE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 获取成本极高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389120" y="2468880"/>
            <a:ext cx="43891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72000" y="25603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我们的自监督近似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0" y="2926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用 U_hat = F(Î) 替代 U*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0" y="3108960"/>
            <a:ext cx="3657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4572000" y="3383280"/>
            <a:ext cx="3931920" cy="36576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0" y="3520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Self-Boost 损失：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0" y="3703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L_sb = || U_hat - P̃ I ||²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572000" y="4023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非线性输出 监督 线性组件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2BEC3"/>
                </a:solidFill>
              </a:rPr>
              <a:t>Dark-ISP | ICCV 2025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315200" y="4754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2BEC3"/>
                </a:solidFill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训练与损失函数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365760" cy="27432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82296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54864" cy="13716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总损失: L_total = L_det + λ₁ · L_sb + λ₂ · L_reg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19202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L_det: 检测损失（如 YOLO 的 GIoU + 分类损失）          L_sb: Self-Boost 正则化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834640"/>
            <a:ext cx="39319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29260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骨干网络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32004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ResNet-18 / ResNet-50 + 检测头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2834640"/>
            <a:ext cx="39319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92040" y="29260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端到端训练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92040" y="32004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ISP 参数 + 检测网络联合优化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840480"/>
            <a:ext cx="39319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94360" y="39319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无需预训练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4360" y="42062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ISP 组件随机初始化即可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54880" y="3840480"/>
            <a:ext cx="39319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92040" y="39319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额外参数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92040" y="42062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 0.136 MB（≈ 136 KB）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2BEC3"/>
                </a:solidFill>
              </a:rPr>
              <a:t>Dark-ISP | ICCV 2025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315200" y="4754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2BEC3"/>
                </a:solidFill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实验设置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365760" cy="27432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39319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1887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数据集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LOD（真实低光照街景）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NOD（Sony / Nikon 双相机）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SynCOCO（COCO -&gt; 逆ISP -&gt; 加噪）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1097280"/>
            <a:ext cx="402336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46320" y="11887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评估指标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46320" y="155448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COCO mAP (IoU@0.5:0.95)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mAP@50, mAP@75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骨干：ResNet-18 / ResNet-50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108960"/>
            <a:ext cx="82296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3200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对比基线方法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3566160"/>
            <a:ext cx="7680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Default ISP: 相机默认 ISP 管线 -&gt; RGB 输入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SID* [CVPR'18]: 低光照 RAW 增强先驱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LIS [ICCV'23]: RAW-RGB 转换 + 检测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FeatEnHancer [CVPR'23]: 特征级增强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RAW-Adapter [ECCV'24]: 可学习查询调整 ISP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2BEC3"/>
                </a:solidFill>
              </a:rPr>
              <a:t>Dark-ISP | ICCV 2025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315200" y="4754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2BEC3"/>
                </a:solidFill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主要实验结果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365760" cy="27432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LOD 数据集 (mAP↑)</a:t>
            </a:r>
            <a:endParaRPr lang="en-US" sz="1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45720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645920"/>
                <a:gridCol w="914400"/>
                <a:gridCol w="10972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输入格式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方法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ResNet18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ResNet50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RGB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Default ISP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55.2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59.1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FeatEnHancer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60.8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64.3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Bayer RAW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Default ISP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63.6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67.3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RAW-Adapter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59.9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66.2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FeatEnHancer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63.4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67.0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8A8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Dark-ISP (Ours)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8A8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64.9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8A8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70.4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303520" y="1234440"/>
            <a:ext cx="34747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394960" y="12801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NOD 数据集 (Sony)</a:t>
            </a:r>
            <a:endParaRPr lang="en-US" sz="1100" dirty="0"/>
          </a:p>
        </p:txBody>
      </p:sp>
      <p:graphicFrame>
        <p:nvGraphicFramePr>
          <p:cNvPr id="2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94960" y="1554480"/>
          <a:ext cx="32004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5544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方法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mAP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Default ISP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28.3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FeatEnHancer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30.3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Dark-ISP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8A8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31.5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457200" y="3291840"/>
            <a:ext cx="82296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457200" y="3291840"/>
            <a:ext cx="54864" cy="155448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11" name="Text 7"/>
          <p:cNvSpPr/>
          <p:nvPr/>
        </p:nvSpPr>
        <p:spPr>
          <a:xfrm>
            <a:off x="731520" y="3383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关键发现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731520" y="374904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Dark-ISP 在三个数据集上均取得 SOTA，ResNet-50 骨干下 LOD 达 70.4 mAP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 Sony 和 Nikon 两台不同相机上均最优，跨传感器泛化性强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额外参数仅 136KB，远轻于 RAW-Adapter 等方法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2BEC3"/>
                </a:solidFill>
              </a:rPr>
              <a:t>Dark-ISP | ICCV 2025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7315200" y="4754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2BEC3"/>
                </a:solidFill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消融实验与分析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365760" cy="27432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05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组件消融 (LOD, ResNet-50)</a:t>
            </a:r>
            <a:endParaRPr lang="en-US" sz="13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41148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914400"/>
                <a:gridCol w="1097280"/>
                <a:gridCol w="9144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线性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非线性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Self-Boost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mAP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✓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✗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✗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66.6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✗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✓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✗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67.1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✓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✓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✗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68.7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✓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✓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8A8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✓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8A8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70.4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846320" y="1005840"/>
            <a:ext cx="38404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029200" y="1097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消融结论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0" y="150876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非线性单独 &gt; 线性单独 -&gt; 色调映射对低光照更关键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两者组合 (+Self-Boost) -&gt; +3.8 mAP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2834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非线性方案对比</a:t>
            </a:r>
            <a:endParaRPr lang="en-US" sz="1300" dirty="0"/>
          </a:p>
        </p:txBody>
      </p:sp>
      <p:graphicFrame>
        <p:nvGraphicFramePr>
          <p:cNvPr id="2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154680"/>
          <a:ext cx="54864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371600"/>
                <a:gridCol w="13716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方法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mAP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参数(MB)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Gamma 校正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66.4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3D LUT [62]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67.8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0.192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Zero-DCE [25]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68.0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0.304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8A8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Dark-ISP (Ours)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8A8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70.4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8A8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0.136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457200" y="411480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57200" y="4114800"/>
            <a:ext cx="54864" cy="8229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9"/>
          <p:cNvSpPr/>
          <p:nvPr/>
        </p:nvSpPr>
        <p:spPr>
          <a:xfrm>
            <a:off x="731520" y="42062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可视化结果：Dark-ISP 增强后的图像更接近正常光 RGB，漏检/误检少于所有对比方法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2BEC3"/>
                </a:solidFill>
              </a:rPr>
              <a:t>Dark-ISP | ICCV 2025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7315200" y="4754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2BEC3"/>
                </a:solidFill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总结与启发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365760" cy="27432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393192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3931920" cy="54864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34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✔ 论文优点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轻量高效：仅 0.136MB 额外参数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物理可解释：解构 ISP 流程，非黑盒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跨传感器鲁棒：Sony / Nikon 均 SOTA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端到端训练，即插即用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1097280"/>
            <a:ext cx="402336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097280"/>
            <a:ext cx="4023360" cy="54864"/>
          </a:xfrm>
          <a:prstGeom prst="rect">
            <a:avLst/>
          </a:prstGeom>
          <a:solidFill>
            <a:srgbClr val="E17055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1234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170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✘ 局限与改进方向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46320" y="160020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合成 RAW 与真实 RAW 有域差距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固定多项式阶数，自适应不够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仅测试 ResNet 骨干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-&gt; 可扩展至视频/水下/雾天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383280"/>
            <a:ext cx="822960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3383280"/>
            <a:ext cx="54864" cy="146304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474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对你研究方向的启发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" y="384048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低光照检测：非线性色调映射 &gt; 线性颜色校正（可迁移到其他增强任务）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RAW/sRGB：可微 ISP 是 RAW 域检测的最优范式，与 Task-Aware ISP 互补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水下/雾天：只需要修改线性组件的 CCM 和非线性基函数即可适配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2BEC3"/>
                </a:solidFill>
              </a:rPr>
              <a:t>Dark-ISP | ICCV 2025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315200" y="4754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2BEC3"/>
                </a:solidFill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谢谢！Q&amp;A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A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Dark-ISP: Enhancing RAW Image Processing for Low-Light Object Detection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3017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2BE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arXiv: 2509.09183 | ICCV 2025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Dark-ISP 论文精读</dc:title>
  <dc:subject>PptxGenJS Presentation</dc:subject>
  <dc:creator>组会汇报</dc:creator>
  <cp:lastModifiedBy>组会汇报</cp:lastModifiedBy>
  <cp:revision>1</cp:revision>
  <dcterms:created xsi:type="dcterms:W3CDTF">2026-05-21T02:57:33Z</dcterms:created>
  <dcterms:modified xsi:type="dcterms:W3CDTF">2026-05-21T02:57:33Z</dcterms:modified>
</cp:coreProperties>
</file>