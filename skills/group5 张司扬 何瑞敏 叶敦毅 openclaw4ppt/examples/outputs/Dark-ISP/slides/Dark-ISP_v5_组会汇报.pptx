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ICCV 2025 | 论文精读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Dark-ISP: Enhancing RAW Image Processing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for Low-Light Object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475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通过可微 ISP 插件实现低光照 RAW 图像端到端目标检测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108960"/>
            <a:ext cx="4114800" cy="13716"/>
          </a:xfrm>
          <a:prstGeom prst="rect">
            <a:avLst/>
          </a:prstGeom>
          <a:solidFill>
            <a:srgbClr val="E67E22">
              <a:alpha val="50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40080" y="324612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Jiasheng Guo et al. | Fudan Univ. | arXiv: 2509.09183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411480" cy="27432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6" name="Shape 4"/>
          <p:cNvSpPr/>
          <p:nvPr/>
        </p:nvSpPr>
        <p:spPr>
          <a:xfrm>
            <a:off x="640080" y="1097280"/>
            <a:ext cx="347472" cy="347472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7" name="Text 5"/>
          <p:cNvSpPr/>
          <p:nvPr/>
        </p:nvSpPr>
        <p:spPr>
          <a:xfrm>
            <a:off x="640080" y="109728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09728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研究背景与动机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35331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低光照挑战 | RAW 优势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47472" cy="347472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11" name="Text 9"/>
          <p:cNvSpPr/>
          <p:nvPr/>
        </p:nvSpPr>
        <p:spPr>
          <a:xfrm>
            <a:off x="640080" y="192024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2024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方法框架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217627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 | 线性 | 非线性 | Self-Boost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347472" cy="347472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5" name="Text 13"/>
          <p:cNvSpPr/>
          <p:nvPr/>
        </p:nvSpPr>
        <p:spPr>
          <a:xfrm>
            <a:off x="640080" y="274320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74320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实验与分析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299923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主实验 | 消融 | 可视化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347472" cy="347472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9" name="Text 17"/>
          <p:cNvSpPr/>
          <p:nvPr/>
        </p:nvSpPr>
        <p:spPr>
          <a:xfrm>
            <a:off x="640080" y="35661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56616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总结与启发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822192"/>
            <a:ext cx="6400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 | 局限 | 启发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1097280"/>
            <a:ext cx="2103120" cy="3108960"/>
          </a:xfrm>
          <a:prstGeom prst="rect">
            <a:avLst/>
          </a:prstGeom>
          <a:solidFill>
            <a:srgbClr val="1B3A5C">
              <a:alpha val="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2011680"/>
            <a:ext cx="21031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min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组会汇报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研究背景与动机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低光照目标检测 | 为什么选择 RAW？ | 现有方法瓶颈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三种现有方法范式 (Fig.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320040" cy="27432"/>
          </a:xfrm>
          <a:prstGeom prst="rect">
            <a:avLst/>
          </a:prstGeom>
          <a:solidFill>
            <a:srgbClr val="E67E22"/>
          </a:solidFill>
        </p:spPr>
      </p:sp>
      <p:pic>
        <p:nvPicPr>
          <p:cNvPr id="6" name="Image 0" descr="C:\Users\herm\openclaw-research-agent\outputs\paper_assets\fig1_paradigm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286" y="640080"/>
            <a:ext cx="4589269" cy="3931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77840" y="777240"/>
            <a:ext cx="3200400" cy="10515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577840" y="777240"/>
            <a:ext cx="3200400" cy="36576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9" name="Text 6"/>
          <p:cNvSpPr/>
          <p:nvPr/>
        </p:nvSpPr>
        <p:spPr>
          <a:xfrm>
            <a:off x="5715000" y="83210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(a) RAW-RGB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715000" y="112471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4ch-&gt;3ch, 丢弃 G 通道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1965960"/>
            <a:ext cx="3200400" cy="10515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1965960"/>
            <a:ext cx="3200400" cy="3657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3" name="Text 10"/>
          <p:cNvSpPr/>
          <p:nvPr/>
        </p:nvSpPr>
        <p:spPr>
          <a:xfrm>
            <a:off x="5715000" y="202082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(b) ISP 搜索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715000" y="231343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可学习 ISP, 多阶段训练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77840" y="3154680"/>
            <a:ext cx="3200400" cy="10515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154680"/>
            <a:ext cx="3200400" cy="36576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17" name="Text 14"/>
          <p:cNvSpPr/>
          <p:nvPr/>
        </p:nvSpPr>
        <p:spPr>
          <a:xfrm>
            <a:off x="5715000" y="3209544"/>
            <a:ext cx="2743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(c) 辅助信息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715000" y="3502152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依赖正常光照 RGB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74320" y="47091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Fig. 1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整体架构 (Fig. 2)</a:t>
            </a:r>
            <a:endParaRPr lang="en-US" sz="2000" dirty="0"/>
          </a:p>
        </p:txBody>
      </p:sp>
      <p:pic>
        <p:nvPicPr>
          <p:cNvPr id="5" name="Image 0" descr="C:\Users\herm\openclaw-research-agent\outputs\paper_assets\fig2_method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476" y="502920"/>
            <a:ext cx="7787047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709160"/>
            <a:ext cx="7315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Fig. 2 | 三部分: Linear Component(左) + Self-Boost(中) + Nonlinear Component(右)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线性组件：传感器校准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02920"/>
            <a:ext cx="4114800" cy="438912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502920"/>
            <a:ext cx="256032" cy="438912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7" name="Text 5"/>
          <p:cNvSpPr/>
          <p:nvPr/>
        </p:nvSpPr>
        <p:spPr>
          <a:xfrm>
            <a:off x="365760" y="502920"/>
            <a:ext cx="2560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539496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白平衡 (WB)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740664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diag(w1,w2,w3,w4) [r, gr, gb, b]^T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014984"/>
            <a:ext cx="4114800" cy="438912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014984"/>
            <a:ext cx="256032" cy="438912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12" name="Text 10"/>
          <p:cNvSpPr/>
          <p:nvPr/>
        </p:nvSpPr>
        <p:spPr>
          <a:xfrm>
            <a:off x="365760" y="1014984"/>
            <a:ext cx="2560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05156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Binning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252728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3x4 矩阵, 两个绿通道取平均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527048"/>
            <a:ext cx="4114800" cy="438912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1527048"/>
            <a:ext cx="256032" cy="438912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17" name="Text 15"/>
          <p:cNvSpPr/>
          <p:nvPr/>
        </p:nvSpPr>
        <p:spPr>
          <a:xfrm>
            <a:off x="365760" y="1527048"/>
            <a:ext cx="25603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156362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颜色校正 (CCM)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1764792"/>
            <a:ext cx="34747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3x3 矩阵 C, 映射到感知颜色空间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502920"/>
            <a:ext cx="4114800" cy="12801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54864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整体变换 P = C*B*W</a:t>
            </a:r>
            <a:endParaRPr lang="en-US" sz="1200" dirty="0"/>
          </a:p>
        </p:txBody>
      </p:sp>
      <p:pic>
        <p:nvPicPr>
          <p:cNvPr id="22" name="Image 0" descr="C:\Users\herm\openclaw-research-agent\outputs\paper_assets\f_linear_combin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777240"/>
            <a:ext cx="3200400" cy="352914"/>
          </a:xfrm>
          <a:prstGeom prst="rect">
            <a:avLst/>
          </a:prstGeom>
        </p:spPr>
      </p:pic>
      <p:pic>
        <p:nvPicPr>
          <p:cNvPr id="23" name="Image 1" descr="C:\Users\herm\openclaw-research-agent\outputs\paper_assets\f_linear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37615"/>
            <a:ext cx="1348105" cy="44577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754880" y="1965960"/>
            <a:ext cx="4114800" cy="17373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892040" y="20116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自适应注意力机制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92040" y="2240280"/>
            <a:ext cx="384048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Pl: 局部注意力 — 逐像素生成变换参数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Pg: 全局注意力 — 图像级变换参数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b="1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P~ = Pl + Pg + P (跳跃连接保留基础参数)</a:t>
            </a:r>
            <a:endParaRPr lang="en-US" sz="900" dirty="0"/>
          </a:p>
        </p:txBody>
      </p:sp>
      <p:pic>
        <p:nvPicPr>
          <p:cNvPr id="27" name="Image 2" descr="C:\Users\herm\openclaw-research-agent\outputs\paper_assets\f_linear_adap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154680"/>
            <a:ext cx="2286000" cy="443484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65760" y="3886200"/>
            <a:ext cx="8412480" cy="731520"/>
          </a:xfrm>
          <a:prstGeom prst="rect">
            <a:avLst/>
          </a:prstGeom>
          <a:solidFill>
            <a:srgbClr val="EBF5FB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65760" y="3886200"/>
            <a:ext cx="45720" cy="731520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30" name="Text 25"/>
          <p:cNvSpPr/>
          <p:nvPr/>
        </p:nvSpPr>
        <p:spPr>
          <a:xfrm>
            <a:off x="594360" y="397764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线性组件 = 可微的相机 ISP 管线: 白平衡+Binning+CCM 三个矩阵操作联合成一个 P, 用局部-全局注意力动态调整, 使 RAW-&gt;RGB 服务于检测目标而非人眼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非线性组件：色调映射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8412480" cy="7772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457200"/>
            <a:ext cx="45720" cy="777240"/>
          </a:xfrm>
          <a:prstGeom prst="rect">
            <a:avLst/>
          </a:prstGeom>
          <a:solidFill>
            <a:srgbClr val="E67E22"/>
          </a:solidFill>
        </p:spPr>
      </p:sp>
      <p:pic>
        <p:nvPicPr>
          <p:cNvPr id="7" name="Image 0" descr="C:\Users\herm\openclaw-research-agent\outputs\paper_assets\f_polynomi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30352"/>
            <a:ext cx="5029200" cy="3884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932688"/>
            <a:ext cx="7772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x: 像素值 | {ak}: 网络预测逐像素系数 | n: 阶数 | 非凸多项式: 拉伸暗区, 压缩亮区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463040"/>
            <a:ext cx="4114800" cy="26517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1517904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处理流程 (根据论文重绘)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783080"/>
            <a:ext cx="3749040" cy="320040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I' (3xHxW, corrected)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185416"/>
            <a:ext cx="3749040" cy="320040"/>
          </a:xfrm>
          <a:prstGeom prst="rect">
            <a:avLst/>
          </a:prstGeom>
          <a:solidFill>
            <a:srgbClr val="E67E22">
              <a:alpha val="15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2185416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4x Conv3x3 + ReLU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" y="2587752"/>
            <a:ext cx="3749040" cy="320040"/>
          </a:xfrm>
          <a:prstGeom prst="rect">
            <a:avLst/>
          </a:prstGeom>
          <a:solidFill>
            <a:srgbClr val="1B3A5C">
              <a:alpha val="15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58775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Coefficient maps {C0...Cn}</a:t>
            </a:r>
            <a:endParaRPr lang="en-US" sz="1000" dirty="0"/>
          </a:p>
        </p:txBody>
      </p:sp>
      <p:pic>
        <p:nvPicPr>
          <p:cNvPr id="17" name="Image 1" descr="C:\Users\herm\openclaw-research-agent\outputs\paper_assets\f_nonlinear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063240"/>
            <a:ext cx="2286000" cy="71033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8640" y="379476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U = Sum(Ck x I'^k) + I' (带跳跃连接, 防梯度消失)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754880" y="1463040"/>
            <a:ext cx="4023360" cy="26517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892040" y="1517904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 Zero-DCE 的关键区别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892040" y="1828800"/>
            <a:ext cx="3749040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Z-DCE: 二次曲线拟合一维亮度 | Dark-ISP: n 阶多项式基, 逐像素独立系数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显式考虑低光照行为，防止次优收敛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非凸多项式更适合暗区像素分布 (拉伸低值, 压缩高值)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跳跃连接保留原始信息, 防止训练早期梯度消失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892040" y="3977640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根据论文方法重绘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Self-Boost 正则化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8412480" cy="457200"/>
          </a:xfrm>
          <a:prstGeom prst="rect">
            <a:avLst/>
          </a:prstGeom>
          <a:solidFill>
            <a:srgbClr val="FEF9E7"/>
          </a:solidFill>
        </p:spPr>
      </p:sp>
      <p:sp>
        <p:nvSpPr>
          <p:cNvPr id="6" name="Text 4"/>
          <p:cNvSpPr/>
          <p:nvPr/>
        </p:nvSpPr>
        <p:spPr>
          <a:xfrm>
            <a:off x="594360" y="5029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动机: 深层非线性输出包含更丰富任务信息, 可作为伪标签监督线性组件学习。无需额外标注, 让线性组件向非线性组件看齐。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3931920" cy="28346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0700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理论最优 (Oracle)</a:t>
            </a:r>
            <a:endParaRPr lang="en-US" sz="1300" dirty="0"/>
          </a:p>
        </p:txBody>
      </p:sp>
      <p:pic>
        <p:nvPicPr>
          <p:cNvPr id="9" name="Image 0" descr="C:\Users\herm\openclaw-research-agent\outputs\paper_assets\f_sb_oracl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2743200" cy="39138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20116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闭式最小二乘解:</a:t>
            </a:r>
            <a:endParaRPr lang="en-US" sz="1000" dirty="0"/>
          </a:p>
        </p:txBody>
      </p:sp>
      <p:pic>
        <p:nvPicPr>
          <p:cNvPr id="11" name="Image 1" descr="C:\Users\herm\openclaw-research-agent\outputs\paper_assets\f_sb_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0280"/>
            <a:ext cx="2286000" cy="29647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2697480"/>
            <a:ext cx="3474720" cy="411480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13" name="Text 9"/>
          <p:cNvSpPr/>
          <p:nvPr/>
        </p:nvSpPr>
        <p:spPr>
          <a:xfrm>
            <a:off x="731520" y="272491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 需要 paired RAW-正常光RGB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获取成本极高, 实际不可行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0" y="1143000"/>
            <a:ext cx="4206240" cy="28346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754880" y="1207008"/>
            <a:ext cx="32004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Self-Boost (自监督近似)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754880" y="150876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用 U = F(I) 替代 oracle U*</a:t>
            </a:r>
            <a:endParaRPr lang="en-US" sz="1100" dirty="0"/>
          </a:p>
        </p:txBody>
      </p:sp>
      <p:pic>
        <p:nvPicPr>
          <p:cNvPr id="17" name="Image 2" descr="C:\Users\herm\openclaw-research-agent\outputs\paper_assets\f_sb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874520"/>
            <a:ext cx="3200400" cy="5283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754880" y="2468880"/>
            <a:ext cx="3840480" cy="640080"/>
          </a:xfrm>
          <a:prstGeom prst="rect">
            <a:avLst/>
          </a:prstGeom>
          <a:solidFill>
            <a:srgbClr val="E8F8F5"/>
          </a:solidFill>
        </p:spPr>
      </p:sp>
      <p:sp>
        <p:nvSpPr>
          <p:cNvPr id="19" name="Text 14"/>
          <p:cNvSpPr/>
          <p:nvPr/>
        </p:nvSpPr>
        <p:spPr>
          <a:xfrm>
            <a:off x="4937760" y="251460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 非线性输出 U 作为伪标签监督线性组件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让线性组件向非线性看齐, 无需额外标注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i.e. 用任务驱动的自监督信号替代 oracle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D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5" name="Text 3"/>
          <p:cNvSpPr/>
          <p:nvPr/>
        </p:nvSpPr>
        <p:spPr>
          <a:xfrm>
            <a:off x="457200" y="164592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损失函数与实验设置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数据集 | 5 基线方法 | 端到端训练 | 仅 0.136 MB 额外参数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损失函数与训练设置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457200"/>
            <a:ext cx="8412480" cy="8229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pic>
        <p:nvPicPr>
          <p:cNvPr id="6" name="Image 0" descr="C:\Users\herm\openclaw-research-agent\outputs\paper_assets\f_loss_tot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12064"/>
            <a:ext cx="4572000" cy="389936"/>
          </a:xfrm>
          <a:prstGeom prst="rect">
            <a:avLst/>
          </a:prstGeom>
        </p:spPr>
      </p:pic>
      <p:pic>
        <p:nvPicPr>
          <p:cNvPr id="7" name="Image 1" descr="C:\Users\herm\openclaw-research-agent\outputs\paper_assets\f_loss_des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868680"/>
            <a:ext cx="5943600" cy="25301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65760" y="1463040"/>
            <a:ext cx="4023360" cy="8229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65760" y="1463040"/>
            <a:ext cx="4023360" cy="3657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10" name="Text 6"/>
          <p:cNvSpPr/>
          <p:nvPr/>
        </p:nvSpPr>
        <p:spPr>
          <a:xfrm>
            <a:off x="548640" y="151790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额外参数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175564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 0.136 MB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(~136 KB)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54880" y="1463040"/>
            <a:ext cx="4023360" cy="8229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1463040"/>
            <a:ext cx="4023360" cy="36576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4" name="Text 10"/>
          <p:cNvSpPr/>
          <p:nvPr/>
        </p:nvSpPr>
        <p:spPr>
          <a:xfrm>
            <a:off x="4937760" y="151790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训练方式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175564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端到端联合训练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ISP + 检测网络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65760" y="2468880"/>
            <a:ext cx="4023360" cy="8229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468880"/>
            <a:ext cx="4023360" cy="36576"/>
          </a:xfrm>
          <a:prstGeom prst="rect">
            <a:avLst/>
          </a:prstGeom>
          <a:solidFill>
            <a:srgbClr val="1B3A5C"/>
          </a:solidFill>
        </p:spPr>
      </p:sp>
      <p:sp>
        <p:nvSpPr>
          <p:cNvPr id="18" name="Text 14"/>
          <p:cNvSpPr/>
          <p:nvPr/>
        </p:nvSpPr>
        <p:spPr>
          <a:xfrm>
            <a:off x="548640" y="252374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8640" y="27614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ISP 组件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随机初始化即可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754880" y="2468880"/>
            <a:ext cx="4023360" cy="82296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54880" y="2468880"/>
            <a:ext cx="4023360" cy="36576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2" name="Text 18"/>
          <p:cNvSpPr/>
          <p:nvPr/>
        </p:nvSpPr>
        <p:spPr>
          <a:xfrm>
            <a:off x="4937760" y="2523744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数据集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937760" y="276148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LOD (真实) | NOD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(双相机) | SynCOCO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65760" y="3566160"/>
            <a:ext cx="8412480" cy="77724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594360" y="361188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对比基线方法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594360" y="384048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Default ISP | Demosaic | SID* [CVPR'18] | LIS [ICCV'23] | FeatEnHancer [CVPR'23] | RAW-Adapter [ECCV'24]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评估指标: COCO mAP (IoU@0.5:0.95) | mAP@50 | mAP@75 | 骨干: ResNet-18 / ResNet-50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主实验结果</a:t>
            </a:r>
            <a:endParaRPr lang="en-US" sz="2000" dirty="0"/>
          </a:p>
        </p:txBody>
      </p:sp>
      <p:pic>
        <p:nvPicPr>
          <p:cNvPr id="5" name="Image 0" descr="C:\Users\herm\openclaw-research-agent\outputs\paper_assets\table1_lod_main_resul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03" y="457200"/>
            <a:ext cx="4494315" cy="3474720"/>
          </a:xfrm>
          <a:prstGeom prst="rect">
            <a:avLst/>
          </a:prstGeom>
        </p:spPr>
      </p:pic>
      <p:pic>
        <p:nvPicPr>
          <p:cNvPr id="6" name="Image 1" descr="C:\Users\herm\openclaw-research-agent\outputs\paper_assets\table2_nod_cross_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457200"/>
            <a:ext cx="3822192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4069080"/>
            <a:ext cx="8412480" cy="54864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8" name="Shape 4"/>
          <p:cNvSpPr/>
          <p:nvPr/>
        </p:nvSpPr>
        <p:spPr>
          <a:xfrm>
            <a:off x="365760" y="4069080"/>
            <a:ext cx="36576" cy="54864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9" name="Text 5"/>
          <p:cNvSpPr/>
          <p:nvPr/>
        </p:nvSpPr>
        <p:spPr>
          <a:xfrm>
            <a:off x="594360" y="4114800"/>
            <a:ext cx="8046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Table1 (LOD): Dark-ISP +3.4 mAP (70.4 vs 67.0, RN50) | Table2 (NOD): Sony/Nikon 双相机均最优 | 额外参数仅 0.136 MB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274320" y="47091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Table 1, 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3657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消融实验</a:t>
            </a:r>
            <a:endParaRPr lang="en-US" sz="2000" dirty="0"/>
          </a:p>
        </p:txBody>
      </p:sp>
      <p:pic>
        <p:nvPicPr>
          <p:cNvPr id="5" name="Image 0" descr="C:\Users\herm\openclaw-research-agent\outputs\paper_assets\table4_ablation_pipeli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07" y="438912"/>
            <a:ext cx="4556107" cy="1554480"/>
          </a:xfrm>
          <a:prstGeom prst="rect">
            <a:avLst/>
          </a:prstGeom>
        </p:spPr>
      </p:pic>
      <p:pic>
        <p:nvPicPr>
          <p:cNvPr id="6" name="Image 1" descr="C:\Users\herm\openclaw-research-agent\outputs\paper_assets\table5_ablation_nonlinear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569" y="438912"/>
            <a:ext cx="4066302" cy="20116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5760" y="2651760"/>
            <a:ext cx="8412480" cy="201168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365760" y="2651760"/>
            <a:ext cx="36576" cy="2011680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9" name="Text 5"/>
          <p:cNvSpPr/>
          <p:nvPr/>
        </p:nvSpPr>
        <p:spPr>
          <a:xfrm>
            <a:off x="594360" y="270662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消融结论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2971800"/>
            <a:ext cx="80467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非线性单独(67.1) &gt; 线性单独(66.6): 色调映射对低光照检测贡献大于颜色校正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两者组合(68.7): 线性+非线性互补; +Self-Boost(70.4): 级联引导再+1.7 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多项式基设计: 精度最高(70.4)且参数最少(0.136MB), 优于 Gamma/LUT/Zero-DCE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所有 RAW 域方法均优于 RGB 域方法, 验证了 RAW 域的优势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74320" y="4709160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Table 4, 5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274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可视化结果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" y="347472"/>
            <a:ext cx="8869680" cy="32004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6" name="Text 4"/>
          <p:cNvSpPr/>
          <p:nvPr/>
        </p:nvSpPr>
        <p:spPr>
          <a:xfrm>
            <a:off x="274320" y="365760"/>
            <a:ext cx="8503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Fig.4 LOD 数据集: 7 列 = 7 种方法 (Default ISP | LIS | SID | RAW-Adapter | FeatEnHancer | Dark-ISP | GT)</a:t>
            </a:r>
            <a:endParaRPr lang="en-US" sz="900" dirty="0"/>
          </a:p>
        </p:txBody>
      </p:sp>
      <p:pic>
        <p:nvPicPr>
          <p:cNvPr id="7" name="Image 0" descr="C:\Users\herm\openclaw-research-agent\outputs\paper_assets\fig4_visualization_lo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4889" y="731520"/>
            <a:ext cx="3374223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7160" y="2926080"/>
            <a:ext cx="8869680" cy="274320"/>
          </a:xfrm>
          <a:prstGeom prst="rect">
            <a:avLst/>
          </a:prstGeom>
          <a:solidFill>
            <a:srgbClr val="E8F8F5"/>
          </a:solidFill>
        </p:spPr>
      </p:sp>
      <p:sp>
        <p:nvSpPr>
          <p:cNvPr id="9" name="Text 6"/>
          <p:cNvSpPr/>
          <p:nvPr/>
        </p:nvSpPr>
        <p:spPr>
          <a:xfrm>
            <a:off x="274320" y="2953512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观察: Dark-ISP 增强图像最接近 GT, 暗区目标检测框最完整, 漏检/误检最少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37160" y="3200400"/>
            <a:ext cx="8869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A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Fig.5 NOD-Sony (左)  |  Fig.6 NOD-Nikon (右)  |  每图: 4 方法 x 4 场景 = 16 个子图</a:t>
            </a:r>
            <a:endParaRPr lang="en-US" sz="900" dirty="0"/>
          </a:p>
        </p:txBody>
      </p:sp>
      <p:pic>
        <p:nvPicPr>
          <p:cNvPr id="11" name="Image 1" descr="C:\Users\herm\openclaw-research-agent\outputs\paper_assets\fig5_visualization_nod_so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879" y="3429000"/>
            <a:ext cx="2312242" cy="1600200"/>
          </a:xfrm>
          <a:prstGeom prst="rect">
            <a:avLst/>
          </a:prstGeom>
        </p:spPr>
      </p:pic>
      <p:pic>
        <p:nvPicPr>
          <p:cNvPr id="12" name="Image 2" descr="C:\Users\herm\openclaw-research-agent\outputs\paper_assets\fig6_visualization_nod_nik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380" y="3429000"/>
            <a:ext cx="2323239" cy="1600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37160" y="4572000"/>
            <a:ext cx="8869680" cy="182880"/>
          </a:xfrm>
          <a:prstGeom prst="rect">
            <a:avLst/>
          </a:prstGeom>
          <a:solidFill>
            <a:srgbClr val="FEF9E7">
              <a:alpha val="50000"/>
            </a:srgbClr>
          </a:solidFill>
        </p:spPr>
      </p:sp>
      <p:sp>
        <p:nvSpPr>
          <p:cNvPr id="14" name="Text 9"/>
          <p:cNvSpPr/>
          <p:nvPr/>
        </p:nvSpPr>
        <p:spPr>
          <a:xfrm>
            <a:off x="182880" y="4590288"/>
            <a:ext cx="8595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来源: 原论文 Fig.4,5,6 | NOD 用 Sony/Nikon 验证跨传感器泛化 | 所有结果均在 ResNet-50 骨干下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 | ICCV 2025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总结与启发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384048"/>
            <a:ext cx="320040" cy="27432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6" name="Shape 4"/>
          <p:cNvSpPr/>
          <p:nvPr/>
        </p:nvSpPr>
        <p:spPr>
          <a:xfrm>
            <a:off x="365760" y="548640"/>
            <a:ext cx="2651760" cy="1463040"/>
          </a:xfrm>
          <a:prstGeom prst="rect">
            <a:avLst/>
          </a:prstGeom>
          <a:solidFill>
            <a:srgbClr val="E8F8F5"/>
          </a:solidFill>
        </p:spPr>
      </p:sp>
      <p:sp>
        <p:nvSpPr>
          <p:cNvPr id="7" name="Shape 5"/>
          <p:cNvSpPr/>
          <p:nvPr/>
        </p:nvSpPr>
        <p:spPr>
          <a:xfrm>
            <a:off x="365760" y="548640"/>
            <a:ext cx="2651760" cy="36576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8" name="Text 6"/>
          <p:cNvSpPr/>
          <p:nvPr/>
        </p:nvSpPr>
        <p:spPr>
          <a:xfrm>
            <a:off x="502920" y="60350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7AE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86868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 0.136MB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物理可解释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跨传感器泛化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即插即用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548640"/>
            <a:ext cx="2651760" cy="1463040"/>
          </a:xfrm>
          <a:prstGeom prst="rect">
            <a:avLst/>
          </a:prstGeom>
          <a:solidFill>
            <a:srgbClr val="FFF5F5"/>
          </a:solidFill>
        </p:spPr>
      </p:sp>
      <p:sp>
        <p:nvSpPr>
          <p:cNvPr id="11" name="Shape 9"/>
          <p:cNvSpPr/>
          <p:nvPr/>
        </p:nvSpPr>
        <p:spPr>
          <a:xfrm>
            <a:off x="3291840" y="548640"/>
            <a:ext cx="2651760" cy="36576"/>
          </a:xfrm>
          <a:prstGeom prst="rect">
            <a:avLst/>
          </a:prstGeom>
          <a:solidFill>
            <a:srgbClr val="E74C3C"/>
          </a:solidFill>
        </p:spPr>
      </p:sp>
      <p:sp>
        <p:nvSpPr>
          <p:cNvPr id="12" name="Text 10"/>
          <p:cNvSpPr/>
          <p:nvPr/>
        </p:nvSpPr>
        <p:spPr>
          <a:xfrm>
            <a:off x="3429000" y="60350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86868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合成/真实 RAW域差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多项式阶数固定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 ResNet 测试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未探索时序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548640"/>
            <a:ext cx="2651760" cy="1463040"/>
          </a:xfrm>
          <a:prstGeom prst="rect">
            <a:avLst/>
          </a:prstGeom>
          <a:solidFill>
            <a:srgbClr val="EBF5FB"/>
          </a:solidFill>
        </p:spPr>
      </p:sp>
      <p:sp>
        <p:nvSpPr>
          <p:cNvPr id="15" name="Shape 13"/>
          <p:cNvSpPr/>
          <p:nvPr/>
        </p:nvSpPr>
        <p:spPr>
          <a:xfrm>
            <a:off x="6217920" y="548640"/>
            <a:ext cx="2651760" cy="36576"/>
          </a:xfrm>
          <a:prstGeom prst="rect">
            <a:avLst/>
          </a:prstGeom>
          <a:solidFill>
            <a:srgbClr val="1ABC9C"/>
          </a:solidFill>
        </p:spPr>
      </p:sp>
      <p:sp>
        <p:nvSpPr>
          <p:cNvPr id="16" name="Text 14"/>
          <p:cNvSpPr/>
          <p:nvPr/>
        </p:nvSpPr>
        <p:spPr>
          <a:xfrm>
            <a:off x="6355080" y="603504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启发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868680"/>
            <a:ext cx="237744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低光照: 非线性&gt;线性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RAW: 可微 ISP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水下: 改 CCM 适配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Self-Boost 可迁移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240280"/>
            <a:ext cx="8412480" cy="1828800"/>
          </a:xfrm>
          <a:prstGeom prst="rect">
            <a:avLst/>
          </a:prstGeom>
          <a:solidFill>
            <a:srgbClr val="FFFFFF"/>
          </a:solidFill>
          <a:effectLst>
            <a:outerShdw blurRad="381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240280"/>
            <a:ext cx="45720" cy="182880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0" name="Text 18"/>
          <p:cNvSpPr/>
          <p:nvPr/>
        </p:nvSpPr>
        <p:spPr>
          <a:xfrm>
            <a:off x="594360" y="230428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对四个研究方向的启发展开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2596896"/>
            <a:ext cx="27432" cy="14630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2" name="Text 20"/>
          <p:cNvSpPr/>
          <p:nvPr/>
        </p:nvSpPr>
        <p:spPr>
          <a:xfrm>
            <a:off x="777240" y="259689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低光照检测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86000" y="2596896"/>
            <a:ext cx="6217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非线性色调映射 &gt; 线性颜色校正; 增强作为可微前置模块, 优于分离两阶段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2916936"/>
            <a:ext cx="27432" cy="14630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5" name="Text 23"/>
          <p:cNvSpPr/>
          <p:nvPr/>
        </p:nvSpPr>
        <p:spPr>
          <a:xfrm>
            <a:off x="777240" y="291693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RAW/sRGB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86000" y="2916936"/>
            <a:ext cx="6217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解耦 ISP &gt; 黑盒端到端; 可微 ISP 即插即用, 可作为 RAW 域检测基准框架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236976"/>
            <a:ext cx="27432" cy="14630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28" name="Text 26"/>
          <p:cNvSpPr/>
          <p:nvPr/>
        </p:nvSpPr>
        <p:spPr>
          <a:xfrm>
            <a:off x="777240" y="323697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水下/恶劣天气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0" y="3236976"/>
            <a:ext cx="6217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框架天然可迁移: 只需调整 CCM 和基函数适配不同降质类型的物理特性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3557016"/>
            <a:ext cx="27432" cy="146304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1" name="Text 29"/>
          <p:cNvSpPr/>
          <p:nvPr/>
        </p:nvSpPr>
        <p:spPr>
          <a:xfrm>
            <a:off x="777240" y="355701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Self-Boost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286000" y="3557016"/>
            <a:ext cx="6217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适用于任意级联架构: 深层输出监督浅层, 无需额外标注, 通用性强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5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67E22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谢谢！欢迎提问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7E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Dark-ISP: Enhancing RAW Image Processing for Low-Light 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E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ICCV 2025 | arXiv: 2509.09183 | Fudan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3035</Words>
  <Application>WPS 演示</Application>
  <PresentationFormat>On-screen Show (16:9)</PresentationFormat>
  <Paragraphs>291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何瑞敏</cp:lastModifiedBy>
  <cp:revision>2</cp:revision>
  <dcterms:created xsi:type="dcterms:W3CDTF">2026-06-03T07:30:00Z</dcterms:created>
  <dcterms:modified xsi:type="dcterms:W3CDTF">2026-06-03T15:34:31Z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4EB1BDC97A914783A4D39C9C66D1E5C8_12</vt:lpwstr>
  </property>
  <property fmtid="{D5CDD505-2E9C-101B-9397-08002B2CF9AE}" pid="3" name="KSOProductBuildVer">
    <vt:lpwstr>2052-12.1.0.22529</vt:lpwstr>
  </property>
</Properties>
</file>