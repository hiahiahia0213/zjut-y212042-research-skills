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ICCV 2025 | 论文精读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Dark-ISP: Enhancing RAW Image Processing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Low-Light Object Detection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7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通过可微 ISP 插件实现低光照 RAW 图像端到端目标检测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4114800" cy="13716"/>
          </a:xfrm>
          <a:prstGeom prst="rect">
            <a:avLst/>
          </a:prstGeom>
          <a:solidFill>
            <a:srgbClr val="E67E22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54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Jiasheng Guo, Xin Gao, etc. | Fudan University | arXiv: 2509.09183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41148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5156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研究背景与动机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2801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低光照挑战 | RAW 优势 | 现有方法瓶颈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347472" cy="34747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方法框架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1031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 | 线性组件 | 非线性组件 | Self-Boost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实验与分析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9260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主实验 | 消融 | 可视化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520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总结与启发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749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 | 局限 | 研究方向启发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097280"/>
            <a:ext cx="1828800" cy="3017520"/>
          </a:xfrm>
          <a:prstGeom prst="rect">
            <a:avLst/>
          </a:prstGeom>
          <a:solidFill>
            <a:srgbClr val="1B3A5C">
              <a:alpha val="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min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组会汇报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研究背景与动机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低光照目标检测 | 为什么选择 RAW？ | 现有方法瓶颈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三种现有方法范式 (Fig. 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0292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6" name="Image 0" descr="C:\Users\herm\openclaw-research-agent\outputs\paper_assets\fig1_paradig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726" y="685800"/>
            <a:ext cx="4589269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822960"/>
            <a:ext cx="3291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0" y="822960"/>
            <a:ext cx="329184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6"/>
          <p:cNvSpPr/>
          <p:nvPr/>
        </p:nvSpPr>
        <p:spPr>
          <a:xfrm>
            <a:off x="5623560" y="8778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RAW-RGB 转换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23560" y="117043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4ch Bayer-&gt;3ch RAW-RGB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丢弃 1 个绿色通道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23560" y="16276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LIS, RAW-Adapter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0" y="2057400"/>
            <a:ext cx="3291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0" y="2057400"/>
            <a:ext cx="329184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5623560" y="2112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ISP 参数搜索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23560" y="240487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可学习 ISP 模块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多阶段训练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23560" y="2862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NOD, AdaptiveISP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0" y="3291840"/>
            <a:ext cx="3291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3291840"/>
            <a:ext cx="3291840" cy="36576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9" name="Text 16"/>
          <p:cNvSpPr/>
          <p:nvPr/>
        </p:nvSpPr>
        <p:spPr>
          <a:xfrm>
            <a:off x="5623560" y="3346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(c) 辅助信息增强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23560" y="363931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依赖正常光照 RGB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或相机元数据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23560" y="4096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ISP-Teacher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Fig. 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整体架构 (Fig. 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1148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6" name="Image 0" descr="C:\Users\herm\openclaw-research-agent\outputs\paper_assets\fig2_method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999" y="548640"/>
            <a:ext cx="7614002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Fig. 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线性组件：传感器校准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40080"/>
            <a:ext cx="3840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640080"/>
            <a:ext cx="256032" cy="47548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40080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6766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白平衡 (WB)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8961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diag(w1,w2,w3,w4)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3840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188720"/>
            <a:ext cx="256032" cy="47548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188720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12252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14447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3x4 矩阵，G通道平均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737360"/>
            <a:ext cx="3840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737360"/>
            <a:ext cx="256032" cy="47548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737360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17739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颜色校正 (CCM)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19933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3x3 矩阵，感知颜色空间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640080"/>
            <a:ext cx="43891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713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整体变换 + 自适应注意力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960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C*B*W | I' = P*I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12344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Pl: 局部注意力 (逐像素)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Pg: 全局注意力 (图像级)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P~ = Pl + Pg + P (跳跃连接)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保留空间细节 + 色调一致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54680"/>
            <a:ext cx="8412480" cy="146304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154680"/>
            <a:ext cx="45720" cy="14630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线性组件 = 可微的相机 ISP 管线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5661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ISP 中，白平衡系数和 CCM 由相机固件确定，固定不变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将这些参数作为可学习变量，用局部-全局注意力动态调整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 RAW→RGB 转换直接服务于检测目标，而非人眼观看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389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根据论文方法重绘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非线性组件：色调映射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21792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621792"/>
            <a:ext cx="45720" cy="6400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85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a0 + a1*x + a2*x^2 + ... + an*x^n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0058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x: 像素值 | {ak}: 网络预测逐像素系数 | n: 阶数 | 非凸: 拉伸暗区 压缩亮区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40233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536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处理流程 (根据论文重绘)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47088"/>
            <a:ext cx="3657600" cy="347472"/>
          </a:xfrm>
          <a:prstGeom prst="rect">
            <a:avLst/>
          </a:prstGeom>
          <a:solidFill>
            <a:srgbClr val="1B3A5C">
              <a:alpha val="1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8470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I' (3xHxW, corrected)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3657600" cy="347472"/>
          </a:xfrm>
          <a:prstGeom prst="rect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86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x Conv3x3 + ReLU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24912"/>
            <a:ext cx="3657600" cy="347472"/>
          </a:xfrm>
          <a:prstGeom prst="rect">
            <a:avLst/>
          </a:prstGeom>
          <a:solidFill>
            <a:srgbClr val="1B3A5C">
              <a:alpha val="1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249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Coefficient maps {C0...Cn}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163824"/>
            <a:ext cx="3657600" cy="347472"/>
          </a:xfrm>
          <a:prstGeom prst="rect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638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Sum(Ck * I'^k) + I'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602736"/>
            <a:ext cx="3657600" cy="347472"/>
          </a:xfrm>
          <a:prstGeom prst="rect">
            <a:avLst/>
          </a:prstGeom>
          <a:solidFill>
            <a:srgbClr val="1B3A5C">
              <a:alpha val="1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027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Enhanced output 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463040"/>
            <a:ext cx="41148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536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Zero-DCE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18745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Z-DCE: 二次曲线 | Dark-ISP: n阶多项式基 (更灵活)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显式考虑低光照行为，防止次优收敛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非凸多项式更适合暗区像素分布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跳跃连接保留原始信息，防梯度消失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931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根据论文方法重绘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正则化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21792"/>
            <a:ext cx="8412480" cy="64008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713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动机: 深层的非线性输出包含更丰富的任务相关信息，作为伪标签监督线性组件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理论最优 (Oracle)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P* = argmin ||U* - P*I||^2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闭式解: P* = U* I^T (I I^T)^-1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474720" cy="6400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需要 paired RAW-正常光RGB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获取成本极高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554480"/>
            <a:ext cx="4206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(自监督近似)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 U = F(I) 替代 oracle U*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3657600" cy="1828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L_sb = || U - P~ I ||^2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840480" cy="50292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无需额外标注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让线性组件向非线性看齐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损失函数与实验设置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Ltotal = Ldet + lambda1 Lsb + lambda2 Lreg | 3 数据集 | 5 基线方法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损失函数与训练设置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21792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69494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L_total = L_det + lambda1 * L_sb + lambda2 * L_reg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检测损失 (GIoU + 分类) + Self-Boost 正则化 + 参数正则化   |   骨干: ResNet18/50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371600"/>
            <a:ext cx="402336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44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额外参数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0.136 MB (~136 KB)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71600"/>
            <a:ext cx="402336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44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训练方式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端到端联合训练 ISP+检测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468880"/>
            <a:ext cx="402336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ISP 组件随机初始化即可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4688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468880"/>
            <a:ext cx="402336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LOD (真实) | NOD (双相机) | SynCOCO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840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对比基线: Default ISP | Demosaic | SID* [CVPR'18] | LIS [ICCV'23] | FeatEnHancer [CVPR'23] | RAW-Adapter [ECCV'24]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主实验结果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1148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6" name="Image 0" descr="C:\Users\herm\openclaw-research-agent\outputs\paper_assets\table1_lod_main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03" y="548640"/>
            <a:ext cx="4494315" cy="3474720"/>
          </a:xfrm>
          <a:prstGeom prst="rect">
            <a:avLst/>
          </a:prstGeom>
        </p:spPr>
      </p:pic>
      <p:pic>
        <p:nvPicPr>
          <p:cNvPr id="7" name="Image 1" descr="C:\Users\herm\openclaw-research-agent\outputs\paper_assets\table2_nod_cross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548640"/>
            <a:ext cx="3822192" cy="3474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" y="4114800"/>
            <a:ext cx="8412480" cy="502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Shape 5"/>
          <p:cNvSpPr/>
          <p:nvPr/>
        </p:nvSpPr>
        <p:spPr>
          <a:xfrm>
            <a:off x="365760" y="4114800"/>
            <a:ext cx="36576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on LOD: +3.4 mAP (70.4 vs 67.0, ResNet50) | Sony/Nikon 均最优 | 额外参数仅 0.136 MB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Table 1, 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1148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6" name="Image 0" descr="C:\Users\herm\openclaw-research-agent\outputs\paper_assets\table4_ablation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64801"/>
            <a:ext cx="4572000" cy="1559903"/>
          </a:xfrm>
          <a:prstGeom prst="rect">
            <a:avLst/>
          </a:prstGeom>
        </p:spPr>
      </p:pic>
      <p:pic>
        <p:nvPicPr>
          <p:cNvPr id="7" name="Image 1" descr="C:\Users\herm\openclaw-research-agent\outputs\paper_assets\table5_ablation_nonlinear_des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655516"/>
            <a:ext cx="4114800" cy="203567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" y="2926080"/>
            <a:ext cx="8412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65760" y="2926080"/>
            <a:ext cx="36576" cy="16916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2999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消融结论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94360" y="3337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非线性单独 (67.1) &gt; 线性单独 (66.6): 色调映射贡献大于颜色校正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 + Self-Boost (70.4): 级联引导带来 +3.8 mAP 总提升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多项式基精度最高 (70.4) 且参数最少 (0.136 MB)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RAW 方法均优于 RGB 方法，验证 RAW 域优势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Table 4, 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可视化结果</a:t>
            </a:r>
            <a:endParaRPr lang="en-US" sz="2000" dirty="0"/>
          </a:p>
        </p:txBody>
      </p:sp>
      <p:pic>
        <p:nvPicPr>
          <p:cNvPr id="5" name="Image 0" descr="C:\Users\herm\openclaw-research-agent\outputs\paper_assets\fig4_visualization_l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7201" y="457200"/>
            <a:ext cx="3589599" cy="2286000"/>
          </a:xfrm>
          <a:prstGeom prst="rect">
            <a:avLst/>
          </a:prstGeom>
        </p:spPr>
      </p:pic>
      <p:pic>
        <p:nvPicPr>
          <p:cNvPr id="6" name="Image 1" descr="C:\Users\herm\openclaw-research-agent\outputs\paper_assets\fig5_visualization_nod_son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815" y="2880360"/>
            <a:ext cx="2444370" cy="1691640"/>
          </a:xfrm>
          <a:prstGeom prst="rect">
            <a:avLst/>
          </a:prstGeom>
        </p:spPr>
      </p:pic>
      <p:pic>
        <p:nvPicPr>
          <p:cNvPr id="7" name="Image 2" descr="C:\Users\herm\openclaw-research-agent\outputs\paper_assets\fig6_visualization_nod_nik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002" y="2880360"/>
            <a:ext cx="2455996" cy="1691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Fig. 4, 5, 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总结与启发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38912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40080"/>
            <a:ext cx="2651760" cy="164592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640080"/>
            <a:ext cx="265176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轻量高效 0.136MB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物理可解释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跨传感器泛化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端到端即插即用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640080"/>
            <a:ext cx="2651760" cy="164592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640080"/>
            <a:ext cx="265176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051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合成/真实RAW域差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多项式阶数固定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仅ResNet测试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未探索时序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640080"/>
            <a:ext cx="2651760" cy="1645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640080"/>
            <a:ext cx="2651760" cy="36576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1051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低光照:非线性&gt;线性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RAW:可微ISP范式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水下:改CCM适配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级联:Self-Boost可迁移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514600"/>
            <a:ext cx="8412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514600"/>
            <a:ext cx="45720" cy="1691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606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对研究方向的启发展开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2971800"/>
            <a:ext cx="27432" cy="1645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971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低光照检测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297180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非线性色调映射 &gt; 线性颜色校正; 增强作为可微前置模块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264408"/>
            <a:ext cx="27432" cy="1645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2644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RAW/sRGB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326440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 ISP &gt; 黑盒端到端; 即插即用, 可作为基准框架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3557016"/>
            <a:ext cx="27432" cy="1645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5570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水下/恶劣天气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3557016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框架可迁移: 调整 CCM 和基函数适配不同降质类型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3849624"/>
            <a:ext cx="27432" cy="1645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8496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可迁移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86000" y="3849624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可用于任意级联增强-检测架构的组件间协作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谢谢！欢迎提问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Dark-ISP: Enhancing RAW Image Processing for Low-Light Object Detection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ICCV 2025 | arXiv: 2509.09183 | Fudan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Dark-ISP 论文精读</dc:title>
  <dc:subject>PptxGenJS Presentation</dc:subject>
  <dc:creator>组会汇报</dc:creator>
  <cp:lastModifiedBy>组会汇报</cp:lastModifiedBy>
  <cp:revision>1</cp:revision>
  <dcterms:created xsi:type="dcterms:W3CDTF">2026-06-03T06:49:45Z</dcterms:created>
  <dcterms:modified xsi:type="dcterms:W3CDTF">2026-06-03T06:49:45Z</dcterms:modified>
</cp:coreProperties>
</file>