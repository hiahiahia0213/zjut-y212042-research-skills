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11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7E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NeurIPS 2023 | ML Reproducibility Challenge | 组会论文精读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7724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PromptIR: Prompting for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All-in-One Blind Image Restoration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7E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基于提示学习的通用图像复原 | 去噪 + 去雨 + 去雾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4114800" cy="13716"/>
          </a:xfrm>
          <a:prstGeom prst="rect">
            <a:avLst/>
          </a:prstGeom>
          <a:solidFill>
            <a:srgbClr val="E67E22">
              <a:alpha val="5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640080" y="301752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Vaishnav Potlapalli, Syed W. Zamir, Salman Khan, Fahad S. Khan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Mohamed bin Zayed University of AI | arXiv: 2306.13090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汇报提纲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411480" cy="27432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6" name="Shape 4"/>
          <p:cNvSpPr/>
          <p:nvPr/>
        </p:nvSpPr>
        <p:spPr>
          <a:xfrm>
            <a:off x="640080" y="1051560"/>
            <a:ext cx="347472" cy="347472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7" name="Text 5"/>
          <p:cNvSpPr/>
          <p:nvPr/>
        </p:nvSpPr>
        <p:spPr>
          <a:xfrm>
            <a:off x="640080" y="10515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05156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研究背景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307592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图像复原三大任务 | All-in-One 的挑战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347472" cy="347472"/>
          </a:xfrm>
          <a:prstGeom prst="rect">
            <a:avLst/>
          </a:prstGeom>
          <a:solidFill>
            <a:srgbClr val="1ABC9C"/>
          </a:solidFill>
        </p:spPr>
      </p:sp>
      <p:sp>
        <p:nvSpPr>
          <p:cNvPr id="11" name="Text 9"/>
          <p:cNvSpPr/>
          <p:nvPr/>
        </p:nvSpPr>
        <p:spPr>
          <a:xfrm>
            <a:off x="640080" y="187452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1874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PromptIR 方法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130552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核心思路 | PGM+PIM | 关键公式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697480"/>
            <a:ext cx="347472" cy="347472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15" name="Text 13"/>
          <p:cNvSpPr/>
          <p:nvPr/>
        </p:nvSpPr>
        <p:spPr>
          <a:xfrm>
            <a:off x="640080" y="269748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974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实验分析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2953512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All-in-One 主结果 | 可视化 | 消融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520440"/>
            <a:ext cx="347472" cy="347472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19" name="Text 17"/>
          <p:cNvSpPr/>
          <p:nvPr/>
        </p:nvSpPr>
        <p:spPr>
          <a:xfrm>
            <a:off x="640080" y="352044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52044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总结讨论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3776472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贡献 | 局限 | 对研究的启发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图像复原与 All-in-One 挑战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438912"/>
            <a:ext cx="320040" cy="27432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6" name="Shape 4"/>
          <p:cNvSpPr/>
          <p:nvPr/>
        </p:nvSpPr>
        <p:spPr>
          <a:xfrm>
            <a:off x="365760" y="640080"/>
            <a:ext cx="4114800" cy="182880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640080"/>
            <a:ext cx="4114800" cy="45720"/>
          </a:xfrm>
          <a:prstGeom prst="rect">
            <a:avLst/>
          </a:prstGeom>
          <a:solidFill>
            <a:srgbClr val="1ABC9C"/>
          </a:solidFill>
        </p:spPr>
      </p:sp>
      <p:sp>
        <p:nvSpPr>
          <p:cNvPr id="8" name="Text 6"/>
          <p:cNvSpPr/>
          <p:nvPr/>
        </p:nvSpPr>
        <p:spPr>
          <a:xfrm>
            <a:off x="548640" y="74980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什么是图像复原？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024128"/>
            <a:ext cx="384048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输入一张退化图像 (含噪声/雨/雾)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输出一张高质量清晰图像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三个核心任务: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去噪 (Denoising) - 去除高斯噪声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去雨 (Deraining) - 去除雨条纹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去雾 (Dehazing) - 去除大气散射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640080"/>
            <a:ext cx="4023360" cy="182880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640080"/>
            <a:ext cx="4023360" cy="45720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12" name="Text 10"/>
          <p:cNvSpPr/>
          <p:nvPr/>
        </p:nvSpPr>
        <p:spPr>
          <a:xfrm>
            <a:off x="4937760" y="74980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现有方法的瓶颈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024128"/>
            <a:ext cx="374904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传统方法: 每种退化需单独训练模型 (3个退化=3个模型)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实际应用: 必须先知道退化类型是什么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真实场景: 退化类型未知或混合出现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All-in-One 目标: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单个模型处理所有退化类型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无需事先知道输入是噪声/雨/雾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8412480" cy="1645920"/>
          </a:xfrm>
          <a:prstGeom prst="rect">
            <a:avLst/>
          </a:prstGeom>
          <a:solidFill>
            <a:srgbClr val="EBF5FB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97480"/>
            <a:ext cx="45720" cy="1645920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16" name="Text 14"/>
          <p:cNvSpPr/>
          <p:nvPr/>
        </p:nvSpPr>
        <p:spPr>
          <a:xfrm>
            <a:off x="594360" y="2761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本文核心思路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035808"/>
            <a:ext cx="77724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作者不做: 针对每种退化训练独立模型。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而是: 用一个 Prompt Module 编码退化信息, 动态引导统一的复原网络。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类比: "提示"告诉网络它面对的是噪声/雨/雾中的哪一种, 网络据此自适应调整复原策略。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这是 NLP 中 Prompt Learning 思想在视觉复原领域的首次系统应用。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PromptIR 核心思路 (Fig.1)</a:t>
            </a:r>
            <a:endParaRPr lang="en-US" sz="2200" dirty="0"/>
          </a:p>
        </p:txBody>
      </p:sp>
      <p:pic>
        <p:nvPicPr>
          <p:cNvPr id="5" name="Image 0" descr="C:\Users\herm\openclaw-research-agent\outputs\PromptIR\paper_assets\fig1_approa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365015"/>
            <a:ext cx="5943600" cy="22991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63640" y="502920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讲解要点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63640" y="777240"/>
            <a:ext cx="2651760" cy="3566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输入: 受未知退化影响的图像 (无需知道类型)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Prompt Module: 可学习的轻量级提示参数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自动预测退化条件, 生成退化相关提示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提示注入 UNet 解码器各层引导复原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输出: 无退化信息的高质量复原图像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" y="4709160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来源: 原论文 Fig.1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PromptIR 整体架构 (Fig.3)</a:t>
            </a:r>
            <a:endParaRPr lang="en-US" sz="2200" dirty="0"/>
          </a:p>
        </p:txBody>
      </p:sp>
      <p:pic>
        <p:nvPicPr>
          <p:cNvPr id="5" name="Image 0" descr="C:\Users\herm\openclaw-research-agent\outputs\PromptIR\paper_assets\fig3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26159"/>
            <a:ext cx="8869680" cy="31025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3891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UNet 编码器-解码器 + Transformer Blocks + Prompt Module (PGM生成 + PIM交互) | 3 个 Prompt Block 插入编码器-解码器连接处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74320" y="4709160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来源: 原论文 Fig.3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方法详解: PGM + PIM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347472"/>
            <a:ext cx="320040" cy="27432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6" name="Shape 4"/>
          <p:cNvSpPr/>
          <p:nvPr/>
        </p:nvSpPr>
        <p:spPr>
          <a:xfrm>
            <a:off x="365760" y="502920"/>
            <a:ext cx="4114800" cy="274320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502920"/>
            <a:ext cx="4114800" cy="45720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8" name="Text 6"/>
          <p:cNvSpPr/>
          <p:nvPr/>
        </p:nvSpPr>
        <p:spPr>
          <a:xfrm>
            <a:off x="548640" y="59436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Prompt Generation Module (PGM)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374904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一组可学习的 Prompt 参数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对输入特征全局平均池化 (GAP)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MLP 生成退化条件向量 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 Prompt 组件库中选取相关提示</a:t>
            </a:r>
            <a:endParaRPr lang="en-US" sz="1000" dirty="0"/>
          </a:p>
        </p:txBody>
      </p:sp>
      <p:pic>
        <p:nvPicPr>
          <p:cNvPr id="10" name="Image 0" descr="C:\Users\herm\openclaw-research-agent\outputs\PromptIR\paper_assets\f_pg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94560"/>
            <a:ext cx="2743200" cy="302293"/>
          </a:xfrm>
          <a:prstGeom prst="rect">
            <a:avLst/>
          </a:prstGeom>
        </p:spPr>
      </p:pic>
      <p:pic>
        <p:nvPicPr>
          <p:cNvPr id="11" name="Image 1" descr="C:\Users\herm\openclaw-research-agent\outputs\PromptIR\paper_assets\f_pgm_des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51760"/>
            <a:ext cx="3200400" cy="114397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754880" y="502920"/>
            <a:ext cx="4023360" cy="274320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54880" y="502920"/>
            <a:ext cx="4023360" cy="45720"/>
          </a:xfrm>
          <a:prstGeom prst="rect">
            <a:avLst/>
          </a:prstGeom>
          <a:solidFill>
            <a:srgbClr val="1ABC9C"/>
          </a:solidFill>
        </p:spPr>
      </p:sp>
      <p:sp>
        <p:nvSpPr>
          <p:cNvPr id="14" name="Text 10"/>
          <p:cNvSpPr/>
          <p:nvPr/>
        </p:nvSpPr>
        <p:spPr>
          <a:xfrm>
            <a:off x="4937760" y="59436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Prompt Interaction Module (PIM)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37760" y="868680"/>
            <a:ext cx="374904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 Prompt 注入 UNet 特征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逐通道仿射变换:  Scale + Shift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每个通道独立缩放 (gamma) 和平移 (beta)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多层注入: 低层控细节, 高层控语义</a:t>
            </a:r>
            <a:endParaRPr lang="en-US" sz="1000" dirty="0"/>
          </a:p>
        </p:txBody>
      </p:sp>
      <p:pic>
        <p:nvPicPr>
          <p:cNvPr id="16" name="Image 2" descr="C:\Users\herm\openclaw-research-agent\outputs\PromptIR\paper_assets\f_p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194560"/>
            <a:ext cx="2743200" cy="423546"/>
          </a:xfrm>
          <a:prstGeom prst="rect">
            <a:avLst/>
          </a:prstGeom>
        </p:spPr>
      </p:pic>
      <p:pic>
        <p:nvPicPr>
          <p:cNvPr id="17" name="Image 3" descr="C:\Users\herm\openclaw-research-agent\outputs\PromptIR\paper_assets\f_pim_de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651760"/>
            <a:ext cx="3200400" cy="171515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65760" y="3429000"/>
            <a:ext cx="8412480" cy="1097280"/>
          </a:xfrm>
          <a:prstGeom prst="rect">
            <a:avLst/>
          </a:prstGeom>
          <a:solidFill>
            <a:srgbClr val="EBF5FB"/>
          </a:solidFill>
        </p:spPr>
      </p:sp>
      <p:sp>
        <p:nvSpPr>
          <p:cNvPr id="19" name="Text 13"/>
          <p:cNvSpPr/>
          <p:nvPr/>
        </p:nvSpPr>
        <p:spPr>
          <a:xfrm>
            <a:off x="594360" y="34930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PGM 决定"是什么退化" — PIM 决定"如何根据退化复原"。两者协作使一个模型处理全部退化类型。</a:t>
            </a:r>
            <a:endParaRPr lang="en-US" sz="1000" dirty="0"/>
          </a:p>
        </p:txBody>
      </p:sp>
      <p:pic>
        <p:nvPicPr>
          <p:cNvPr id="20" name="Image 4" descr="C:\Users\herm\openclaw-research-agent\outputs\PromptIR\paper_assets\f_allin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840480"/>
            <a:ext cx="2651125" cy="737870"/>
          </a:xfrm>
          <a:prstGeom prst="rect">
            <a:avLst/>
          </a:prstGeom>
        </p:spPr>
      </p:pic>
      <p:pic>
        <p:nvPicPr>
          <p:cNvPr id="21" name="Image 5" descr="C:\Users\herm\openclaw-research-agent\outputs\PromptIR\paper_assets\f_allinone_des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840480"/>
            <a:ext cx="4114800" cy="13672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200400" y="4434840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来源: 根据论文描述用 LaTeX 渲染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All-in-One 主实验结果 (Table 1)</a:t>
            </a:r>
            <a:endParaRPr lang="en-US" sz="2200" dirty="0"/>
          </a:p>
        </p:txBody>
      </p:sp>
      <p:pic>
        <p:nvPicPr>
          <p:cNvPr id="5" name="Image 0" descr="C:\Users\herm\openclaw-research-agent\outputs\PromptIR\paper_assets\tab1_allino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68421"/>
            <a:ext cx="8869680" cy="20635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017520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关键发现: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3291840"/>
            <a:ext cx="841248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PromptIR 是 All-in-One 设置下的最优方法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平均 PSNR 比前方法 AirNet 提升 0.86 dB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去雾: 23.81 dB | 去雨: 33.56 dB | 去噪: 30.58 dB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一个统一模型同时处理三种退化, 无需切换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709160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来源: 原论文 Table 1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可视化结果 (Fig.4-6)</a:t>
            </a:r>
            <a:endParaRPr lang="en-US" sz="2200" dirty="0"/>
          </a:p>
        </p:txBody>
      </p:sp>
      <p:pic>
        <p:nvPicPr>
          <p:cNvPr id="5" name="Image 0" descr="C:\Users\herm\openclaw-research-agent\outputs\PromptIR\paper_assets\fig4_dehaz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2894" y="347472"/>
            <a:ext cx="4298212" cy="1508760"/>
          </a:xfrm>
          <a:prstGeom prst="rect">
            <a:avLst/>
          </a:prstGeom>
        </p:spPr>
      </p:pic>
      <p:pic>
        <p:nvPicPr>
          <p:cNvPr id="6" name="Image 1" descr="C:\Users\herm\openclaw-research-agent\outputs\PromptIR\paper_assets\fig5_de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994792"/>
            <a:ext cx="4389120" cy="1451097"/>
          </a:xfrm>
          <a:prstGeom prst="rect">
            <a:avLst/>
          </a:prstGeom>
        </p:spPr>
      </p:pic>
      <p:pic>
        <p:nvPicPr>
          <p:cNvPr id="7" name="Image 2" descr="C:\Users\herm\openclaw-research-agent\outputs\PromptIR\paper_assets\fig6_denoi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059359"/>
            <a:ext cx="4206240" cy="1321961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37160" y="3584448"/>
            <a:ext cx="8869680" cy="100584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4"/>
          <p:cNvSpPr/>
          <p:nvPr/>
        </p:nvSpPr>
        <p:spPr>
          <a:xfrm>
            <a:off x="274320" y="3639312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观察要点: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274320" y="3913632"/>
            <a:ext cx="841248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去雾 (上图): PromptIR 恢复细节最清晰, 天空区域无伪影, 色彩还原准确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去雨 (左下): 雨条纹完全去除, 背景纹理保留完好, 优于 AirNet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去噪 (右下): 平坦区域平滑且边缘保持锐利, 未引入模糊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274320" y="4709160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来源: 原论文 Fig.4,5,6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274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单任务结果 (Table 2-4)</a:t>
            </a:r>
            <a:endParaRPr lang="en-US" sz="2200" dirty="0"/>
          </a:p>
        </p:txBody>
      </p:sp>
      <p:pic>
        <p:nvPicPr>
          <p:cNvPr id="5" name="Image 0" descr="C:\Users\herm\openclaw-research-agent\outputs\PromptIR\paper_assets\tab2_dehazing_sing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30608"/>
            <a:ext cx="8686800" cy="921864"/>
          </a:xfrm>
          <a:prstGeom prst="rect">
            <a:avLst/>
          </a:prstGeom>
        </p:spPr>
      </p:pic>
      <p:pic>
        <p:nvPicPr>
          <p:cNvPr id="6" name="Image 1" descr="C:\Users\herm\openclaw-research-agent\outputs\PromptIR\paper_assets\tab3_deraining_si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555880"/>
            <a:ext cx="8686800" cy="957321"/>
          </a:xfrm>
          <a:prstGeom prst="rect">
            <a:avLst/>
          </a:prstGeom>
        </p:spPr>
      </p:pic>
      <p:pic>
        <p:nvPicPr>
          <p:cNvPr id="7" name="Image 2" descr="C:\Users\herm\openclaw-research-agent\outputs\PromptIR\paper_assets\tab4_denoising_si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166" y="2651760"/>
            <a:ext cx="6300788" cy="1645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37160" y="4434840"/>
            <a:ext cx="8869680" cy="274320"/>
          </a:xfrm>
          <a:prstGeom prst="rect">
            <a:avLst/>
          </a:prstGeom>
          <a:solidFill>
            <a:srgbClr val="EBF5FB"/>
          </a:solidFill>
        </p:spPr>
      </p:sp>
      <p:sp>
        <p:nvSpPr>
          <p:cNvPr id="9" name="Text 4"/>
          <p:cNvSpPr/>
          <p:nvPr/>
        </p:nvSpPr>
        <p:spPr>
          <a:xfrm>
            <a:off x="274320" y="4462272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单任务下 PromptIR 仍最优: 去雾 31.31 dB (+8.13 dB), 去雨 37.04 dB, 去噪 34.34 dB。证明 Prompt Module 在单/多任务均有效。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消融实验 (Table 5)</a:t>
            </a:r>
            <a:endParaRPr lang="en-US" sz="2200" dirty="0"/>
          </a:p>
        </p:txBody>
      </p:sp>
      <p:pic>
        <p:nvPicPr>
          <p:cNvPr id="5" name="Image 0" descr="C:\Users\herm\openclaw-research-agent\outputs\PromptIR\paper_assets\tab5_pgm_abl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18288"/>
            <a:ext cx="5029200" cy="31696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640080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PGM 消融分析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0" y="914400"/>
            <a:ext cx="329184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w/o Prompt: 无提示 (基线最低)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Fixed Prompt: 固定提示 (+0.5 dB)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Learned Prompt: 可学习 (+1.2 dB)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PGM (Ours): 自适应条件编码 (最优)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退化条件编码 &gt;&gt; 通用提示 &gt; 无提示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Prompt 位置: 编解码连接处 3个Block最优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37160" y="3931920"/>
            <a:ext cx="8869680" cy="640080"/>
          </a:xfrm>
          <a:prstGeom prst="rect">
            <a:avLst/>
          </a:prstGeom>
          <a:solidFill>
            <a:srgbClr val="EBF5FB"/>
          </a:solidFill>
        </p:spPr>
      </p:sp>
      <p:sp>
        <p:nvSpPr>
          <p:cNvPr id="9" name="Text 6"/>
          <p:cNvSpPr/>
          <p:nvPr/>
        </p:nvSpPr>
        <p:spPr>
          <a:xfrm>
            <a:off x="274320" y="4005072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消融结论: PGM 的退化条件编码是 PromptIR 的核心。固定提示无法自适应不同退化, 可学习条件编码能根据输入自动调整。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总结与启发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347472"/>
            <a:ext cx="320040" cy="27432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365760" y="475488"/>
            <a:ext cx="2651760" cy="1554480"/>
          </a:xfrm>
          <a:prstGeom prst="rect">
            <a:avLst/>
          </a:prstGeom>
          <a:solidFill>
            <a:srgbClr val="E8F8F5"/>
          </a:solidFill>
        </p:spPr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365760" y="475488"/>
            <a:ext cx="2651760" cy="36576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502920" y="53035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贡献</a:t>
            </a:r>
            <a:endParaRPr lang="en-US" sz="140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502920" y="804672"/>
            <a:ext cx="237744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Prompt 学习+视觉复原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All-in-One 统一模型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PGM+PIM 双模块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即插即用轻量设计</a:t>
            </a:r>
            <a:endParaRPr lang="en-US" sz="1000" dirty="0"/>
          </a:p>
        </p:txBody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3291840" y="475488"/>
            <a:ext cx="2651760" cy="1554480"/>
          </a:xfrm>
          <a:prstGeom prst="rect">
            <a:avLst/>
          </a:prstGeom>
          <a:solidFill>
            <a:srgbClr val="FFF5F5"/>
          </a:solidFill>
        </p:spPr>
      </p:sp>
      <p:sp>
        <p:nvSpPr>
          <p:cNvPr id="11" name="Shape 9"/>
          <p:cNvSpPr/>
          <p:nvPr>
            <p:custDataLst>
              <p:tags r:id="rId6"/>
            </p:custDataLst>
          </p:nvPr>
        </p:nvSpPr>
        <p:spPr>
          <a:xfrm>
            <a:off x="3291840" y="475488"/>
            <a:ext cx="2651760" cy="36576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3429000" y="53035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局限</a:t>
            </a:r>
            <a:endParaRPr lang="en-US" sz="1400" dirty="0"/>
          </a:p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3429000" y="804672"/>
            <a:ext cx="237744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仅在 3 种退化测试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退化类型组合固定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未探索退化程度泛化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计算开销未充分对比</a:t>
            </a:r>
            <a:endParaRPr lang="en-US" sz="1000" dirty="0"/>
          </a:p>
        </p:txBody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6217920" y="475488"/>
            <a:ext cx="2651760" cy="15544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/>
          <a:p>
            <a:endParaRPr lang="zh-CN" altLang="en-US"/>
          </a:p>
        </p:txBody>
      </p:sp>
      <p:sp>
        <p:nvSpPr>
          <p:cNvPr id="15" name="Shape 13"/>
          <p:cNvSpPr/>
          <p:nvPr>
            <p:custDataLst>
              <p:tags r:id="rId10"/>
            </p:custDataLst>
          </p:nvPr>
        </p:nvSpPr>
        <p:spPr>
          <a:xfrm>
            <a:off x="6217920" y="475488"/>
            <a:ext cx="2651760" cy="36576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6355080" y="53035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启发</a:t>
            </a:r>
            <a:endParaRPr lang="en-US" sz="1400" dirty="0"/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6355080" y="804672"/>
            <a:ext cx="237744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Prompt+检测: 低光照适配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Prompt+水下: 退化编码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Prompt+RAW: ISP 替代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NLP 范式迁移视觉</a:t>
            </a:r>
            <a:endParaRPr lang="en-US" sz="1000" dirty="0"/>
          </a:p>
        </p:txBody>
      </p:sp>
      <p:sp>
        <p:nvSpPr>
          <p:cNvPr id="18" name="Shape 16"/>
          <p:cNvSpPr/>
          <p:nvPr>
            <p:custDataLst>
              <p:tags r:id="rId13"/>
            </p:custDataLst>
          </p:nvPr>
        </p:nvSpPr>
        <p:spPr>
          <a:xfrm>
            <a:off x="9144000" y="475488"/>
            <a:ext cx="2651760" cy="1554480"/>
          </a:xfrm>
          <a:prstGeom prst="rect">
            <a:avLst/>
          </a:prstGeom>
          <a:solidFill>
            <a:srgbClr val="EBF5FB"/>
          </a:solidFill>
        </p:spPr>
      </p:sp>
      <p:sp>
        <p:nvSpPr>
          <p:cNvPr id="19" name="Shape 17"/>
          <p:cNvSpPr/>
          <p:nvPr>
            <p:custDataLst>
              <p:tags r:id="rId14"/>
            </p:custDataLst>
          </p:nvPr>
        </p:nvSpPr>
        <p:spPr>
          <a:xfrm>
            <a:off x="9144000" y="475488"/>
            <a:ext cx="2651760" cy="36576"/>
          </a:xfrm>
          <a:prstGeom prst="rect">
            <a:avLst/>
          </a:prstGeom>
          <a:solidFill>
            <a:srgbClr val="1ABC9C"/>
          </a:solidFill>
        </p:spPr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9281160" y="53035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BC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启发</a:t>
            </a:r>
            <a:endParaRPr lang="en-US" sz="1400" dirty="0"/>
          </a:p>
        </p:txBody>
      </p:sp>
      <p:sp>
        <p:nvSpPr>
          <p:cNvPr id="21" name="Text 19"/>
          <p:cNvSpPr/>
          <p:nvPr>
            <p:custDataLst>
              <p:tags r:id="rId16"/>
            </p:custDataLst>
          </p:nvPr>
        </p:nvSpPr>
        <p:spPr>
          <a:xfrm>
            <a:off x="9281160" y="804672"/>
            <a:ext cx="237744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Prompt+检测: 低光照适配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Prompt+水下: 退化编码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Prompt+RAW: ISP 替代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NLP 范式迁移视觉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240280"/>
            <a:ext cx="8412480" cy="173736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240280"/>
            <a:ext cx="45720" cy="1737360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24" name="Text 22"/>
          <p:cNvSpPr/>
          <p:nvPr/>
        </p:nvSpPr>
        <p:spPr>
          <a:xfrm>
            <a:off x="594360" y="230428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对目标检测/水下/RAW 方向的启发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2578608"/>
            <a:ext cx="777240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目标检测: Prompt Module 可插入检测骨干, 动态适配低光照/雨雾等退化场景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水下图像: 退化编码可扩展到水下散射+颜色偏移, 实现 All-in-One 水下增强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RAW 处理: 提示学习范式可替代手工 ISP 参数, 自动适配不同传感器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核心价值: NLP Prompt Learning -&gt; Vision Restoration 范式迁移, 3 个任务已验证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谢谢！欢迎提问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7E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PromptIR: Prompting for All-in-One Blind Image Restoration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arXiv: 2306.13090 | NeurIPS 2023 MLRC | MBZUAI</a:t>
            </a:r>
            <a:endParaRPr lang="en-US" sz="12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22.4,&quot;left&quot;:28.8,&quot;top&quot;:37.44,&quot;width&quot;:900}"/>
</p:tagLst>
</file>

<file path=ppt/tags/tag2.xml><?xml version="1.0" encoding="utf-8"?>
<p:tagLst xmlns:p="http://schemas.openxmlformats.org/presentationml/2006/main">
  <p:tag name="KSO_WM_DIAGRAM_VIRTUALLY_FRAME" val="{&quot;height&quot;:122.4,&quot;left&quot;:28.8,&quot;top&quot;:37.44,&quot;width&quot;:900}"/>
</p:tagLst>
</file>

<file path=ppt/tags/tag3.xml><?xml version="1.0" encoding="utf-8"?>
<p:tagLst xmlns:p="http://schemas.openxmlformats.org/presentationml/2006/main">
  <p:tag name="KSO_WM_DIAGRAM_VIRTUALLY_FRAME" val="{&quot;height&quot;:122.4,&quot;left&quot;:28.8,&quot;top&quot;:37.44,&quot;width&quot;:900}"/>
</p:tagLst>
</file>

<file path=ppt/tags/tag4.xml><?xml version="1.0" encoding="utf-8"?>
<p:tagLst xmlns:p="http://schemas.openxmlformats.org/presentationml/2006/main">
  <p:tag name="KSO_WM_DIAGRAM_VIRTUALLY_FRAME" val="{&quot;height&quot;:122.4,&quot;left&quot;:28.8,&quot;top&quot;:37.44,&quot;width&quot;:900}"/>
</p:tagLst>
</file>

<file path=ppt/tags/tag5.xml><?xml version="1.0" encoding="utf-8"?>
<p:tagLst xmlns:p="http://schemas.openxmlformats.org/presentationml/2006/main">
  <p:tag name="KSO_WM_DIAGRAM_VIRTUALLY_FRAME" val="{&quot;height&quot;:122.4,&quot;left&quot;:28.8,&quot;top&quot;:37.44,&quot;width&quot;:900}"/>
</p:tagLst>
</file>

<file path=ppt/tags/tag6.xml><?xml version="1.0" encoding="utf-8"?>
<p:tagLst xmlns:p="http://schemas.openxmlformats.org/presentationml/2006/main">
  <p:tag name="KSO_WM_DIAGRAM_VIRTUALLY_FRAME" val="{&quot;height&quot;:122.4,&quot;left&quot;:28.8,&quot;top&quot;:37.44,&quot;width&quot;:900}"/>
</p:tagLst>
</file>

<file path=ppt/tags/tag7.xml><?xml version="1.0" encoding="utf-8"?>
<p:tagLst xmlns:p="http://schemas.openxmlformats.org/presentationml/2006/main">
  <p:tag name="KSO_WM_DIAGRAM_VIRTUALLY_FRAME" val="{&quot;height&quot;:122.4,&quot;left&quot;:28.8,&quot;top&quot;:37.44,&quot;width&quot;:900}"/>
</p:tagLst>
</file>

<file path=ppt/tags/tag8.xml><?xml version="1.0" encoding="utf-8"?>
<p:tagLst xmlns:p="http://schemas.openxmlformats.org/presentationml/2006/main">
  <p:tag name="KSO_WM_DIAGRAM_VIRTUALLY_FRAME" val="{&quot;height&quot;:122.4,&quot;left&quot;:28.8,&quot;top&quot;:37.44,&quot;width&quot;:900}"/>
</p:tagLst>
</file>

<file path=ppt/tags/tag9.xml><?xml version="1.0" encoding="utf-8"?>
<p:tagLst xmlns:p="http://schemas.openxmlformats.org/presentationml/2006/main">
  <p:tag name="KSO_WM_DIAGRAM_VIRTUALLY_FRAME" val="{&quot;height&quot;:122.4,&quot;left&quot;:28.8,&quot;top&quot;:37.44,&quot;width&quot;:900}"/>
</p:tagLst>
</file>

<file path=ppt/tags/tag10.xml><?xml version="1.0" encoding="utf-8"?>
<p:tagLst xmlns:p="http://schemas.openxmlformats.org/presentationml/2006/main">
  <p:tag name="KSO_WM_DIAGRAM_VIRTUALLY_FRAME" val="{&quot;height&quot;:122.4,&quot;left&quot;:28.8,&quot;top&quot;:37.44,&quot;width&quot;:900}"/>
</p:tagLst>
</file>

<file path=ppt/tags/tag11.xml><?xml version="1.0" encoding="utf-8"?>
<p:tagLst xmlns:p="http://schemas.openxmlformats.org/presentationml/2006/main">
  <p:tag name="KSO_WM_DIAGRAM_VIRTUALLY_FRAME" val="{&quot;height&quot;:122.4,&quot;left&quot;:28.8,&quot;top&quot;:37.44,&quot;width&quot;:900}"/>
</p:tagLst>
</file>

<file path=ppt/tags/tag12.xml><?xml version="1.0" encoding="utf-8"?>
<p:tagLst xmlns:p="http://schemas.openxmlformats.org/presentationml/2006/main">
  <p:tag name="KSO_WM_DIAGRAM_VIRTUALLY_FRAME" val="{&quot;height&quot;:122.4,&quot;left&quot;:28.8,&quot;top&quot;:37.44,&quot;width&quot;:900}"/>
</p:tagLst>
</file>

<file path=ppt/tags/tag13.xml><?xml version="1.0" encoding="utf-8"?>
<p:tagLst xmlns:p="http://schemas.openxmlformats.org/presentationml/2006/main">
  <p:tag name="KSO_WM_DIAGRAM_VIRTUALLY_FRAME" val="{&quot;height&quot;:122.4,&quot;left&quot;:28.8,&quot;top&quot;:37.44,&quot;width&quot;:900}"/>
</p:tagLst>
</file>

<file path=ppt/tags/tag14.xml><?xml version="1.0" encoding="utf-8"?>
<p:tagLst xmlns:p="http://schemas.openxmlformats.org/presentationml/2006/main">
  <p:tag name="KSO_WM_DIAGRAM_VIRTUALLY_FRAME" val="{&quot;height&quot;:122.4,&quot;left&quot;:28.8,&quot;top&quot;:37.44,&quot;width&quot;:900}"/>
</p:tagLst>
</file>

<file path=ppt/tags/tag15.xml><?xml version="1.0" encoding="utf-8"?>
<p:tagLst xmlns:p="http://schemas.openxmlformats.org/presentationml/2006/main">
  <p:tag name="KSO_WM_DIAGRAM_VIRTUALLY_FRAME" val="{&quot;height&quot;:122.4,&quot;left&quot;:28.8,&quot;top&quot;:37.44,&quot;width&quot;:900}"/>
</p:tagLst>
</file>

<file path=ppt/tags/tag16.xml><?xml version="1.0" encoding="utf-8"?>
<p:tagLst xmlns:p="http://schemas.openxmlformats.org/presentationml/2006/main">
  <p:tag name="KSO_WM_DIAGRAM_VIRTUALLY_FRAME" val="{&quot;height&quot;:122.4,&quot;left&quot;:28.8,&quot;top&quot;:37.44,&quot;width&quot;:90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2635</Words>
  <Application>WPS 演示</Application>
  <PresentationFormat>On-screen Show (16:9)</PresentationFormat>
  <Paragraphs>223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何瑞敏</cp:lastModifiedBy>
  <cp:revision>3</cp:revision>
  <dcterms:created xsi:type="dcterms:W3CDTF">2026-06-03T12:07:00Z</dcterms:created>
  <dcterms:modified xsi:type="dcterms:W3CDTF">2026-06-03T15:56:41Z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7D9CC127B7054A53A688F00709A9A942_12</vt:lpwstr>
  </property>
  <property fmtid="{D5CDD505-2E9C-101B-9397-08002B2CF9AE}" pid="3" name="KSOProductBuildVer">
    <vt:lpwstr>2052-12.1.0.22529</vt:lpwstr>
  </property>
</Properties>
</file>